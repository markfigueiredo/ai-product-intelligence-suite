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ean">
    <p:bg>
      <p:bgPr>
        <a:solidFill>
          <a:srgbClr val="F7F8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58368" y="658368"/>
            <a:ext cx="5943600" cy="50292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AI Product Intelligence Suite 1.04</a:t>
            </a:r>
            <a:endParaRPr lang="en-US" sz="3000" dirty="0"/>
          </a:p>
        </p:txBody>
      </p:sp>
      <p:sp>
        <p:nvSpPr>
          <p:cNvPr id="3" name="Text 1"/>
          <p:cNvSpPr/>
          <p:nvPr/>
        </p:nvSpPr>
        <p:spPr>
          <a:xfrm>
            <a:off x="676656" y="1243584"/>
            <a:ext cx="5760720" cy="320040"/>
          </a:xfrm>
          <a:prstGeom prst="rect">
            <a:avLst/>
          </a:prstGeom>
          <a:noFill/>
          <a:ln/>
        </p:spPr>
        <p:txBody>
          <a:bodyPr wrap="square" lIns="0" tIns="0" rIns="0" bIns="0" rtlCol="0" anchor="ctr"/>
          <a:lstStyle/>
          <a:p>
            <a:pPr indent="0" marL="0">
              <a:buNone/>
            </a:pPr>
            <a:r>
              <a:rPr lang="en-US" sz="1350" dirty="0">
                <a:solidFill>
                  <a:srgbClr val="D8E8FF"/>
                </a:solidFill>
              </a:rPr>
              <a:t>Portfolio case study for AI product workflows in regulated enterprise software</a:t>
            </a:r>
            <a:endParaRPr lang="en-US" sz="1350" dirty="0"/>
          </a:p>
        </p:txBody>
      </p:sp>
      <p:sp>
        <p:nvSpPr>
          <p:cNvPr id="4" name="Text 2"/>
          <p:cNvSpPr/>
          <p:nvPr/>
        </p:nvSpPr>
        <p:spPr>
          <a:xfrm>
            <a:off x="694944" y="1920240"/>
            <a:ext cx="5852160" cy="1143000"/>
          </a:xfrm>
          <a:prstGeom prst="rect">
            <a:avLst/>
          </a:prstGeom>
          <a:noFill/>
          <a:ln/>
        </p:spPr>
        <p:txBody>
          <a:bodyPr wrap="square" lIns="254" tIns="254" rIns="254" bIns="254" rtlCol="0" anchor="ctr">
            <a:normAutofit/>
          </a:bodyPr>
          <a:lstStyle/>
          <a:p>
            <a:pPr indent="0" marL="0">
              <a:buNone/>
            </a:pPr>
            <a:r>
              <a:rPr lang="en-US" sz="1850" b="1" dirty="0">
                <a:solidFill>
                  <a:srgbClr val="FFFFFF"/>
                </a:solidFill>
              </a:rPr>
              <a:t>In 60 seconds, this app shows how a regulated product team can convert ambiguous compliance input into reviewed requirements, QA coverage and safer release communication.</a:t>
            </a:r>
            <a:endParaRPr lang="en-US" sz="1850" dirty="0"/>
          </a:p>
        </p:txBody>
      </p:sp>
      <p:sp>
        <p:nvSpPr>
          <p:cNvPr id="5" name="Shape 3"/>
          <p:cNvSpPr/>
          <p:nvPr/>
        </p:nvSpPr>
        <p:spPr>
          <a:xfrm>
            <a:off x="694944" y="3429000"/>
            <a:ext cx="1417320" cy="292608"/>
          </a:xfrm>
          <a:prstGeom prst="roundRect">
            <a:avLst>
              <a:gd name="adj" fmla="val 21875"/>
            </a:avLst>
          </a:prstGeom>
          <a:solidFill>
            <a:srgbClr val="2563EB">
              <a:alpha val="92000"/>
            </a:srgbClr>
          </a:solidFill>
          <a:ln w="12700">
            <a:solidFill>
              <a:srgbClr val="2563EB">
                <a:alpha val="0"/>
              </a:srgbClr>
            </a:solidFill>
            <a:prstDash val="solid"/>
          </a:ln>
        </p:spPr>
      </p:sp>
      <p:sp>
        <p:nvSpPr>
          <p:cNvPr id="6" name="Text 4"/>
          <p:cNvSpPr/>
          <p:nvPr/>
        </p:nvSpPr>
        <p:spPr>
          <a:xfrm>
            <a:off x="768096" y="3497580"/>
            <a:ext cx="1271016" cy="128016"/>
          </a:xfrm>
          <a:prstGeom prst="rect">
            <a:avLst/>
          </a:prstGeom>
          <a:noFill/>
          <a:ln/>
        </p:spPr>
        <p:txBody>
          <a:bodyPr wrap="square" lIns="0" tIns="0" rIns="0" bIns="0" rtlCol="0" anchor="ctr"/>
          <a:lstStyle/>
          <a:p>
            <a:pPr algn="ctr" indent="0" marL="0">
              <a:buNone/>
            </a:pPr>
            <a:r>
              <a:rPr lang="en-US" sz="750" b="1" dirty="0">
                <a:solidFill>
                  <a:srgbClr val="FFFFFF"/>
                </a:solidFill>
              </a:rPr>
              <a:t>human-in-the-loop</a:t>
            </a:r>
            <a:endParaRPr lang="en-US" sz="750" dirty="0"/>
          </a:p>
        </p:txBody>
      </p:sp>
      <p:sp>
        <p:nvSpPr>
          <p:cNvPr id="7" name="Shape 5"/>
          <p:cNvSpPr/>
          <p:nvPr/>
        </p:nvSpPr>
        <p:spPr>
          <a:xfrm>
            <a:off x="2240280" y="3429000"/>
            <a:ext cx="1024128" cy="292608"/>
          </a:xfrm>
          <a:prstGeom prst="roundRect">
            <a:avLst>
              <a:gd name="adj" fmla="val 21875"/>
            </a:avLst>
          </a:prstGeom>
          <a:solidFill>
            <a:srgbClr val="10B981">
              <a:alpha val="92000"/>
            </a:srgbClr>
          </a:solidFill>
          <a:ln w="12700">
            <a:solidFill>
              <a:srgbClr val="10B981">
                <a:alpha val="0"/>
              </a:srgbClr>
            </a:solidFill>
            <a:prstDash val="solid"/>
          </a:ln>
        </p:spPr>
      </p:sp>
      <p:sp>
        <p:nvSpPr>
          <p:cNvPr id="8" name="Text 6"/>
          <p:cNvSpPr/>
          <p:nvPr/>
        </p:nvSpPr>
        <p:spPr>
          <a:xfrm>
            <a:off x="2313432" y="3497580"/>
            <a:ext cx="877824" cy="128016"/>
          </a:xfrm>
          <a:prstGeom prst="rect">
            <a:avLst/>
          </a:prstGeom>
          <a:noFill/>
          <a:ln/>
        </p:spPr>
        <p:txBody>
          <a:bodyPr wrap="square" lIns="0" tIns="0" rIns="0" bIns="0" rtlCol="0" anchor="ctr"/>
          <a:lstStyle/>
          <a:p>
            <a:pPr algn="ctr" indent="0" marL="0">
              <a:buNone/>
            </a:pPr>
            <a:r>
              <a:rPr lang="en-US" sz="750" b="1" dirty="0">
                <a:solidFill>
                  <a:srgbClr val="FFFFFF"/>
                </a:solidFill>
              </a:rPr>
              <a:t>audit-aware</a:t>
            </a:r>
            <a:endParaRPr lang="en-US" sz="750" dirty="0"/>
          </a:p>
        </p:txBody>
      </p:sp>
      <p:sp>
        <p:nvSpPr>
          <p:cNvPr id="9" name="Shape 7"/>
          <p:cNvSpPr/>
          <p:nvPr/>
        </p:nvSpPr>
        <p:spPr>
          <a:xfrm>
            <a:off x="3383280" y="3429000"/>
            <a:ext cx="1024128" cy="292608"/>
          </a:xfrm>
          <a:prstGeom prst="roundRect">
            <a:avLst>
              <a:gd name="adj" fmla="val 21875"/>
            </a:avLst>
          </a:prstGeom>
          <a:solidFill>
            <a:srgbClr val="F59E0B">
              <a:alpha val="92000"/>
            </a:srgbClr>
          </a:solidFill>
          <a:ln w="12700">
            <a:solidFill>
              <a:srgbClr val="F59E0B">
                <a:alpha val="0"/>
              </a:srgbClr>
            </a:solidFill>
            <a:prstDash val="solid"/>
          </a:ln>
        </p:spPr>
      </p:sp>
      <p:sp>
        <p:nvSpPr>
          <p:cNvPr id="10" name="Text 8"/>
          <p:cNvSpPr/>
          <p:nvPr/>
        </p:nvSpPr>
        <p:spPr>
          <a:xfrm>
            <a:off x="3456432" y="3497580"/>
            <a:ext cx="877824" cy="128016"/>
          </a:xfrm>
          <a:prstGeom prst="rect">
            <a:avLst/>
          </a:prstGeom>
          <a:noFill/>
          <a:ln/>
        </p:spPr>
        <p:txBody>
          <a:bodyPr wrap="square" lIns="0" tIns="0" rIns="0" bIns="0" rtlCol="0" anchor="ctr"/>
          <a:lstStyle/>
          <a:p>
            <a:pPr algn="ctr" indent="0" marL="0">
              <a:buNone/>
            </a:pPr>
            <a:r>
              <a:rPr lang="en-US" sz="750" b="1" dirty="0">
                <a:solidFill>
                  <a:srgbClr val="FFFFFF"/>
                </a:solidFill>
              </a:rPr>
              <a:t>risk-aware</a:t>
            </a:r>
            <a:endParaRPr lang="en-US" sz="750" dirty="0"/>
          </a:p>
        </p:txBody>
      </p:sp>
      <p:sp>
        <p:nvSpPr>
          <p:cNvPr id="11" name="Shape 9"/>
          <p:cNvSpPr/>
          <p:nvPr/>
        </p:nvSpPr>
        <p:spPr>
          <a:xfrm>
            <a:off x="4517136" y="3429000"/>
            <a:ext cx="1463040" cy="292608"/>
          </a:xfrm>
          <a:prstGeom prst="roundRect">
            <a:avLst>
              <a:gd name="adj" fmla="val 21875"/>
            </a:avLst>
          </a:prstGeom>
          <a:solidFill>
            <a:srgbClr val="7C3AED">
              <a:alpha val="92000"/>
            </a:srgbClr>
          </a:solidFill>
          <a:ln w="12700">
            <a:solidFill>
              <a:srgbClr val="7C3AED">
                <a:alpha val="0"/>
              </a:srgbClr>
            </a:solidFill>
            <a:prstDash val="solid"/>
          </a:ln>
        </p:spPr>
      </p:sp>
      <p:sp>
        <p:nvSpPr>
          <p:cNvPr id="12" name="Text 10"/>
          <p:cNvSpPr/>
          <p:nvPr/>
        </p:nvSpPr>
        <p:spPr>
          <a:xfrm>
            <a:off x="4590288" y="3497580"/>
            <a:ext cx="1316736" cy="128016"/>
          </a:xfrm>
          <a:prstGeom prst="rect">
            <a:avLst/>
          </a:prstGeom>
          <a:noFill/>
          <a:ln/>
        </p:spPr>
        <p:txBody>
          <a:bodyPr wrap="square" lIns="0" tIns="0" rIns="0" bIns="0" rtlCol="0" anchor="ctr"/>
          <a:lstStyle/>
          <a:p>
            <a:pPr algn="ctr" indent="0" marL="0">
              <a:buNone/>
            </a:pPr>
            <a:r>
              <a:rPr lang="en-US" sz="750" b="1" dirty="0">
                <a:solidFill>
                  <a:srgbClr val="FFFFFF"/>
                </a:solidFill>
              </a:rPr>
              <a:t>portfolio, not product</a:t>
            </a:r>
            <a:endParaRPr lang="en-US" sz="750" dirty="0"/>
          </a:p>
        </p:txBody>
      </p:sp>
      <p:sp>
        <p:nvSpPr>
          <p:cNvPr id="13" name="Shape 11"/>
          <p:cNvSpPr/>
          <p:nvPr/>
        </p:nvSpPr>
        <p:spPr>
          <a:xfrm>
            <a:off x="6903720" y="1051560"/>
            <a:ext cx="1828800" cy="676656"/>
          </a:xfrm>
          <a:prstGeom prst="roundRect">
            <a:avLst>
              <a:gd name="adj" fmla="val 16216"/>
            </a:avLst>
          </a:prstGeom>
          <a:solidFill>
            <a:srgbClr val="FFFFFF"/>
          </a:solidFill>
          <a:ln w="12700">
            <a:solidFill>
              <a:srgbClr val="E2E8F0"/>
            </a:solidFill>
            <a:prstDash val="solid"/>
          </a:ln>
        </p:spPr>
      </p:sp>
      <p:sp>
        <p:nvSpPr>
          <p:cNvPr id="14" name="Shape 12"/>
          <p:cNvSpPr/>
          <p:nvPr/>
        </p:nvSpPr>
        <p:spPr>
          <a:xfrm>
            <a:off x="7013448" y="1216152"/>
            <a:ext cx="310896" cy="310896"/>
          </a:xfrm>
          <a:prstGeom prst="ellipse">
            <a:avLst/>
          </a:prstGeom>
          <a:solidFill>
            <a:srgbClr val="2563EB"/>
          </a:solidFill>
          <a:ln w="12700">
            <a:solidFill>
              <a:srgbClr val="333333">
                <a:alpha val="0"/>
              </a:srgbClr>
            </a:solidFill>
            <a:prstDash val="solid"/>
          </a:ln>
        </p:spPr>
      </p:sp>
      <p:sp>
        <p:nvSpPr>
          <p:cNvPr id="15" name="Text 13"/>
          <p:cNvSpPr/>
          <p:nvPr/>
        </p:nvSpPr>
        <p:spPr>
          <a:xfrm>
            <a:off x="7013448" y="130759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1</a:t>
            </a:r>
            <a:endParaRPr lang="en-US" sz="680" dirty="0"/>
          </a:p>
        </p:txBody>
      </p:sp>
      <p:sp>
        <p:nvSpPr>
          <p:cNvPr id="16" name="Text 14"/>
          <p:cNvSpPr/>
          <p:nvPr/>
        </p:nvSpPr>
        <p:spPr>
          <a:xfrm>
            <a:off x="7406640" y="1234440"/>
            <a:ext cx="120700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Source</a:t>
            </a:r>
            <a:endParaRPr lang="en-US" sz="1050" dirty="0"/>
          </a:p>
        </p:txBody>
      </p:sp>
      <p:sp>
        <p:nvSpPr>
          <p:cNvPr id="17" name="Shape 15"/>
          <p:cNvSpPr/>
          <p:nvPr/>
        </p:nvSpPr>
        <p:spPr>
          <a:xfrm>
            <a:off x="7909560" y="1874520"/>
            <a:ext cx="1828800" cy="676656"/>
          </a:xfrm>
          <a:prstGeom prst="roundRect">
            <a:avLst>
              <a:gd name="adj" fmla="val 16216"/>
            </a:avLst>
          </a:prstGeom>
          <a:solidFill>
            <a:srgbClr val="FFFFFF"/>
          </a:solidFill>
          <a:ln w="12700">
            <a:solidFill>
              <a:srgbClr val="E2E8F0"/>
            </a:solidFill>
            <a:prstDash val="solid"/>
          </a:ln>
        </p:spPr>
      </p:sp>
      <p:sp>
        <p:nvSpPr>
          <p:cNvPr id="18" name="Shape 16"/>
          <p:cNvSpPr/>
          <p:nvPr/>
        </p:nvSpPr>
        <p:spPr>
          <a:xfrm>
            <a:off x="8019288" y="2039112"/>
            <a:ext cx="310896" cy="310896"/>
          </a:xfrm>
          <a:prstGeom prst="ellipse">
            <a:avLst/>
          </a:prstGeom>
          <a:solidFill>
            <a:srgbClr val="10B981"/>
          </a:solidFill>
          <a:ln w="12700">
            <a:solidFill>
              <a:srgbClr val="333333">
                <a:alpha val="0"/>
              </a:srgbClr>
            </a:solidFill>
            <a:prstDash val="solid"/>
          </a:ln>
        </p:spPr>
      </p:sp>
      <p:sp>
        <p:nvSpPr>
          <p:cNvPr id="19" name="Text 17"/>
          <p:cNvSpPr/>
          <p:nvPr/>
        </p:nvSpPr>
        <p:spPr>
          <a:xfrm>
            <a:off x="8019288" y="213055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2</a:t>
            </a:r>
            <a:endParaRPr lang="en-US" sz="680" dirty="0"/>
          </a:p>
        </p:txBody>
      </p:sp>
      <p:sp>
        <p:nvSpPr>
          <p:cNvPr id="20" name="Text 18"/>
          <p:cNvSpPr/>
          <p:nvPr/>
        </p:nvSpPr>
        <p:spPr>
          <a:xfrm>
            <a:off x="8412480" y="2057400"/>
            <a:ext cx="120700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Obligations</a:t>
            </a:r>
            <a:endParaRPr lang="en-US" sz="1050" dirty="0"/>
          </a:p>
        </p:txBody>
      </p:sp>
      <p:sp>
        <p:nvSpPr>
          <p:cNvPr id="21" name="Shape 19"/>
          <p:cNvSpPr/>
          <p:nvPr/>
        </p:nvSpPr>
        <p:spPr>
          <a:xfrm>
            <a:off x="8915400" y="2697480"/>
            <a:ext cx="1828800" cy="676656"/>
          </a:xfrm>
          <a:prstGeom prst="roundRect">
            <a:avLst>
              <a:gd name="adj" fmla="val 16216"/>
            </a:avLst>
          </a:prstGeom>
          <a:solidFill>
            <a:srgbClr val="FFFFFF"/>
          </a:solidFill>
          <a:ln w="12700">
            <a:solidFill>
              <a:srgbClr val="E2E8F0"/>
            </a:solidFill>
            <a:prstDash val="solid"/>
          </a:ln>
        </p:spPr>
      </p:sp>
      <p:sp>
        <p:nvSpPr>
          <p:cNvPr id="22" name="Shape 20"/>
          <p:cNvSpPr/>
          <p:nvPr/>
        </p:nvSpPr>
        <p:spPr>
          <a:xfrm>
            <a:off x="9025128" y="2862072"/>
            <a:ext cx="310896" cy="310896"/>
          </a:xfrm>
          <a:prstGeom prst="ellipse">
            <a:avLst/>
          </a:prstGeom>
          <a:solidFill>
            <a:srgbClr val="F59E0B"/>
          </a:solidFill>
          <a:ln w="12700">
            <a:solidFill>
              <a:srgbClr val="333333">
                <a:alpha val="0"/>
              </a:srgbClr>
            </a:solidFill>
            <a:prstDash val="solid"/>
          </a:ln>
        </p:spPr>
      </p:sp>
      <p:sp>
        <p:nvSpPr>
          <p:cNvPr id="23" name="Text 21"/>
          <p:cNvSpPr/>
          <p:nvPr/>
        </p:nvSpPr>
        <p:spPr>
          <a:xfrm>
            <a:off x="9025128" y="295351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3</a:t>
            </a:r>
            <a:endParaRPr lang="en-US" sz="680" dirty="0"/>
          </a:p>
        </p:txBody>
      </p:sp>
      <p:sp>
        <p:nvSpPr>
          <p:cNvPr id="24" name="Text 22"/>
          <p:cNvSpPr/>
          <p:nvPr/>
        </p:nvSpPr>
        <p:spPr>
          <a:xfrm>
            <a:off x="9418320" y="2880360"/>
            <a:ext cx="120700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QA</a:t>
            </a:r>
            <a:endParaRPr lang="en-US" sz="1050" dirty="0"/>
          </a:p>
        </p:txBody>
      </p:sp>
      <p:sp>
        <p:nvSpPr>
          <p:cNvPr id="25" name="Shape 23"/>
          <p:cNvSpPr/>
          <p:nvPr/>
        </p:nvSpPr>
        <p:spPr>
          <a:xfrm>
            <a:off x="9921240" y="3520440"/>
            <a:ext cx="1828800" cy="676656"/>
          </a:xfrm>
          <a:prstGeom prst="roundRect">
            <a:avLst>
              <a:gd name="adj" fmla="val 16216"/>
            </a:avLst>
          </a:prstGeom>
          <a:solidFill>
            <a:srgbClr val="FFFFFF"/>
          </a:solidFill>
          <a:ln w="12700">
            <a:solidFill>
              <a:srgbClr val="E2E8F0"/>
            </a:solidFill>
            <a:prstDash val="solid"/>
          </a:ln>
        </p:spPr>
      </p:sp>
      <p:sp>
        <p:nvSpPr>
          <p:cNvPr id="26" name="Shape 24"/>
          <p:cNvSpPr/>
          <p:nvPr/>
        </p:nvSpPr>
        <p:spPr>
          <a:xfrm>
            <a:off x="10030968" y="3685032"/>
            <a:ext cx="310896" cy="310896"/>
          </a:xfrm>
          <a:prstGeom prst="ellipse">
            <a:avLst/>
          </a:prstGeom>
          <a:solidFill>
            <a:srgbClr val="EF4444"/>
          </a:solidFill>
          <a:ln w="12700">
            <a:solidFill>
              <a:srgbClr val="333333">
                <a:alpha val="0"/>
              </a:srgbClr>
            </a:solidFill>
            <a:prstDash val="solid"/>
          </a:ln>
        </p:spPr>
      </p:sp>
      <p:sp>
        <p:nvSpPr>
          <p:cNvPr id="27" name="Text 25"/>
          <p:cNvSpPr/>
          <p:nvPr/>
        </p:nvSpPr>
        <p:spPr>
          <a:xfrm>
            <a:off x="10030968" y="377647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4</a:t>
            </a:r>
            <a:endParaRPr lang="en-US" sz="680" dirty="0"/>
          </a:p>
        </p:txBody>
      </p:sp>
      <p:sp>
        <p:nvSpPr>
          <p:cNvPr id="28" name="Text 26"/>
          <p:cNvSpPr/>
          <p:nvPr/>
        </p:nvSpPr>
        <p:spPr>
          <a:xfrm>
            <a:off x="10424160" y="3703320"/>
            <a:ext cx="120700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Release</a:t>
            </a:r>
            <a:endParaRPr lang="en-US" sz="1050" dirty="0"/>
          </a:p>
        </p:txBody>
      </p:sp>
      <p:sp>
        <p:nvSpPr>
          <p:cNvPr id="29" name="Text 27"/>
          <p:cNvSpPr/>
          <p:nvPr/>
        </p:nvSpPr>
        <p:spPr>
          <a:xfrm>
            <a:off x="694944" y="6254496"/>
            <a:ext cx="3657600" cy="182880"/>
          </a:xfrm>
          <a:prstGeom prst="rect">
            <a:avLst/>
          </a:prstGeom>
          <a:noFill/>
          <a:ln/>
        </p:spPr>
        <p:txBody>
          <a:bodyPr wrap="square" lIns="0" tIns="0" rIns="0" bIns="0" rtlCol="0" anchor="ctr"/>
          <a:lstStyle/>
          <a:p>
            <a:pPr indent="0" marL="0">
              <a:buNone/>
            </a:pPr>
            <a:r>
              <a:rPr lang="en-US" sz="900" dirty="0">
                <a:solidFill>
                  <a:srgbClr val="D8E8FF"/>
                </a:solidFill>
              </a:rPr>
              <a:t>Marco Figueiredo</a:t>
            </a:r>
            <a:endParaRPr lang="en-US" sz="900" dirty="0"/>
          </a:p>
        </p:txBody>
      </p:sp>
      <p:sp>
        <p:nvSpPr>
          <p:cNvPr id="30" name="Text 28"/>
          <p:cNvSpPr/>
          <p:nvPr/>
        </p:nvSpPr>
        <p:spPr>
          <a:xfrm>
            <a:off x="11064240" y="6254496"/>
            <a:ext cx="411480" cy="164592"/>
          </a:xfrm>
          <a:prstGeom prst="rect">
            <a:avLst/>
          </a:prstGeom>
          <a:noFill/>
          <a:ln/>
        </p:spPr>
        <p:txBody>
          <a:bodyPr wrap="square" lIns="0" tIns="0" rIns="0" bIns="0" rtlCol="0" anchor="ctr"/>
          <a:lstStyle/>
          <a:p>
            <a:pPr algn="r" indent="0" marL="0">
              <a:buNone/>
            </a:pPr>
            <a:r>
              <a:rPr lang="en-US" sz="800" dirty="0">
                <a:solidFill>
                  <a:srgbClr val="D8E8FF"/>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PROBLEM</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The enterprise problem is not “more AI output”</a:t>
            </a:r>
            <a:endParaRPr lang="en-US" sz="2800" dirty="0"/>
          </a:p>
        </p:txBody>
      </p:sp>
      <p:sp>
        <p:nvSpPr>
          <p:cNvPr id="4" name="Text 2"/>
          <p:cNvSpPr/>
          <p:nvPr/>
        </p:nvSpPr>
        <p:spPr>
          <a:xfrm>
            <a:off x="612648" y="1325880"/>
            <a:ext cx="7315200" cy="274320"/>
          </a:xfrm>
          <a:prstGeom prst="rect">
            <a:avLst/>
          </a:prstGeom>
          <a:noFill/>
          <a:ln/>
        </p:spPr>
        <p:txBody>
          <a:bodyPr wrap="square" lIns="0" tIns="0" rIns="0" bIns="0" rtlCol="0" anchor="ctr"/>
          <a:lstStyle/>
          <a:p>
            <a:pPr indent="0" marL="0">
              <a:buNone/>
            </a:pPr>
            <a:r>
              <a:rPr lang="en-US" sz="1500" dirty="0">
                <a:solidFill>
                  <a:srgbClr val="475569"/>
                </a:solidFill>
              </a:rPr>
              <a:t>It is preserving traceability from compliance input to product decisions.</a:t>
            </a:r>
            <a:endParaRPr lang="en-US" sz="1500" dirty="0"/>
          </a:p>
        </p:txBody>
      </p:sp>
      <p:sp>
        <p:nvSpPr>
          <p:cNvPr id="5" name="Shape 3"/>
          <p:cNvSpPr/>
          <p:nvPr/>
        </p:nvSpPr>
        <p:spPr>
          <a:xfrm>
            <a:off x="685800" y="1920240"/>
            <a:ext cx="2926080" cy="1280160"/>
          </a:xfrm>
          <a:prstGeom prst="roundRect">
            <a:avLst>
              <a:gd name="adj" fmla="val 5714"/>
            </a:avLst>
          </a:prstGeom>
          <a:solidFill>
            <a:srgbClr val="FFFFFF"/>
          </a:solidFill>
          <a:ln w="12700">
            <a:solidFill>
              <a:srgbClr val="E2E8F0"/>
            </a:solidFill>
            <a:prstDash val="solid"/>
          </a:ln>
        </p:spPr>
      </p:sp>
      <p:sp>
        <p:nvSpPr>
          <p:cNvPr id="6" name="Shape 4"/>
          <p:cNvSpPr/>
          <p:nvPr/>
        </p:nvSpPr>
        <p:spPr>
          <a:xfrm>
            <a:off x="685800" y="1920240"/>
            <a:ext cx="73152" cy="1280160"/>
          </a:xfrm>
          <a:prstGeom prst="rect">
            <a:avLst/>
          </a:prstGeom>
          <a:solidFill>
            <a:srgbClr val="2563EB"/>
          </a:solidFill>
          <a:ln w="12700">
            <a:solidFill>
              <a:srgbClr val="333333">
                <a:alpha val="0"/>
              </a:srgbClr>
            </a:solidFill>
            <a:prstDash val="solid"/>
          </a:ln>
        </p:spPr>
      </p:sp>
      <p:sp>
        <p:nvSpPr>
          <p:cNvPr id="7" name="Text 5"/>
          <p:cNvSpPr/>
          <p:nvPr/>
        </p:nvSpPr>
        <p:spPr>
          <a:xfrm>
            <a:off x="886968" y="2084832"/>
            <a:ext cx="2596896" cy="219456"/>
          </a:xfrm>
          <a:prstGeom prst="rect">
            <a:avLst/>
          </a:prstGeom>
          <a:noFill/>
          <a:ln/>
        </p:spPr>
        <p:txBody>
          <a:bodyPr wrap="square" lIns="0" tIns="0" rIns="0" bIns="0" rtlCol="0" anchor="ctr"/>
          <a:lstStyle/>
          <a:p>
            <a:pPr indent="0" marL="0">
              <a:buNone/>
            </a:pPr>
            <a:r>
              <a:rPr lang="en-US" sz="1300" b="1" dirty="0">
                <a:solidFill>
                  <a:srgbClr val="111827"/>
                </a:solidFill>
              </a:rPr>
              <a:t>Compliance input</a:t>
            </a:r>
            <a:endParaRPr lang="en-US" sz="1300" dirty="0"/>
          </a:p>
        </p:txBody>
      </p:sp>
      <p:sp>
        <p:nvSpPr>
          <p:cNvPr id="8" name="Text 6"/>
          <p:cNvSpPr/>
          <p:nvPr/>
        </p:nvSpPr>
        <p:spPr>
          <a:xfrm>
            <a:off x="886968" y="2450592"/>
            <a:ext cx="2596896" cy="5943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Dense source text, obligations, exceptions and audit expectations.</a:t>
            </a:r>
            <a:endParaRPr lang="en-US" sz="1020" dirty="0"/>
          </a:p>
        </p:txBody>
      </p:sp>
      <p:sp>
        <p:nvSpPr>
          <p:cNvPr id="9" name="Shape 7"/>
          <p:cNvSpPr/>
          <p:nvPr/>
        </p:nvSpPr>
        <p:spPr>
          <a:xfrm>
            <a:off x="4663440" y="1920240"/>
            <a:ext cx="2926080" cy="1280160"/>
          </a:xfrm>
          <a:prstGeom prst="roundRect">
            <a:avLst>
              <a:gd name="adj" fmla="val 5714"/>
            </a:avLst>
          </a:prstGeom>
          <a:solidFill>
            <a:srgbClr val="FFFFFF"/>
          </a:solidFill>
          <a:ln w="12700">
            <a:solidFill>
              <a:srgbClr val="E2E8F0"/>
            </a:solidFill>
            <a:prstDash val="solid"/>
          </a:ln>
        </p:spPr>
      </p:sp>
      <p:sp>
        <p:nvSpPr>
          <p:cNvPr id="10" name="Shape 8"/>
          <p:cNvSpPr/>
          <p:nvPr/>
        </p:nvSpPr>
        <p:spPr>
          <a:xfrm>
            <a:off x="4663440" y="1920240"/>
            <a:ext cx="73152" cy="1280160"/>
          </a:xfrm>
          <a:prstGeom prst="rect">
            <a:avLst/>
          </a:prstGeom>
          <a:solidFill>
            <a:srgbClr val="F59E0B"/>
          </a:solidFill>
          <a:ln w="12700">
            <a:solidFill>
              <a:srgbClr val="333333">
                <a:alpha val="0"/>
              </a:srgbClr>
            </a:solidFill>
            <a:prstDash val="solid"/>
          </a:ln>
        </p:spPr>
      </p:sp>
      <p:sp>
        <p:nvSpPr>
          <p:cNvPr id="11" name="Text 9"/>
          <p:cNvSpPr/>
          <p:nvPr/>
        </p:nvSpPr>
        <p:spPr>
          <a:xfrm>
            <a:off x="4864608" y="2084832"/>
            <a:ext cx="2596896" cy="219456"/>
          </a:xfrm>
          <a:prstGeom prst="rect">
            <a:avLst/>
          </a:prstGeom>
          <a:noFill/>
          <a:ln/>
        </p:spPr>
        <p:txBody>
          <a:bodyPr wrap="square" lIns="0" tIns="0" rIns="0" bIns="0" rtlCol="0" anchor="ctr"/>
          <a:lstStyle/>
          <a:p>
            <a:pPr indent="0" marL="0">
              <a:buNone/>
            </a:pPr>
            <a:r>
              <a:rPr lang="en-US" sz="1300" b="1" dirty="0">
                <a:solidFill>
                  <a:srgbClr val="111827"/>
                </a:solidFill>
              </a:rPr>
              <a:t>Product translation</a:t>
            </a:r>
            <a:endParaRPr lang="en-US" sz="1300" dirty="0"/>
          </a:p>
        </p:txBody>
      </p:sp>
      <p:sp>
        <p:nvSpPr>
          <p:cNvPr id="12" name="Text 10"/>
          <p:cNvSpPr/>
          <p:nvPr/>
        </p:nvSpPr>
        <p:spPr>
          <a:xfrm>
            <a:off x="4864608" y="2450592"/>
            <a:ext cx="2596896" cy="5943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Requirements lose source evidence or become too vague to test.</a:t>
            </a:r>
            <a:endParaRPr lang="en-US" sz="1020" dirty="0"/>
          </a:p>
        </p:txBody>
      </p:sp>
      <p:sp>
        <p:nvSpPr>
          <p:cNvPr id="13" name="Shape 11"/>
          <p:cNvSpPr/>
          <p:nvPr/>
        </p:nvSpPr>
        <p:spPr>
          <a:xfrm>
            <a:off x="8641080" y="1920240"/>
            <a:ext cx="2926080" cy="1280160"/>
          </a:xfrm>
          <a:prstGeom prst="roundRect">
            <a:avLst>
              <a:gd name="adj" fmla="val 5714"/>
            </a:avLst>
          </a:prstGeom>
          <a:solidFill>
            <a:srgbClr val="FFFFFF"/>
          </a:solidFill>
          <a:ln w="12700">
            <a:solidFill>
              <a:srgbClr val="E2E8F0"/>
            </a:solidFill>
            <a:prstDash val="solid"/>
          </a:ln>
        </p:spPr>
      </p:sp>
      <p:sp>
        <p:nvSpPr>
          <p:cNvPr id="14" name="Shape 12"/>
          <p:cNvSpPr/>
          <p:nvPr/>
        </p:nvSpPr>
        <p:spPr>
          <a:xfrm>
            <a:off x="8641080" y="1920240"/>
            <a:ext cx="73152" cy="1280160"/>
          </a:xfrm>
          <a:prstGeom prst="rect">
            <a:avLst/>
          </a:prstGeom>
          <a:solidFill>
            <a:srgbClr val="EF4444"/>
          </a:solidFill>
          <a:ln w="12700">
            <a:solidFill>
              <a:srgbClr val="333333">
                <a:alpha val="0"/>
              </a:srgbClr>
            </a:solidFill>
            <a:prstDash val="solid"/>
          </a:ln>
        </p:spPr>
      </p:sp>
      <p:sp>
        <p:nvSpPr>
          <p:cNvPr id="15" name="Text 13"/>
          <p:cNvSpPr/>
          <p:nvPr/>
        </p:nvSpPr>
        <p:spPr>
          <a:xfrm>
            <a:off x="8842248" y="2084832"/>
            <a:ext cx="2596896" cy="219456"/>
          </a:xfrm>
          <a:prstGeom prst="rect">
            <a:avLst/>
          </a:prstGeom>
          <a:noFill/>
          <a:ln/>
        </p:spPr>
        <p:txBody>
          <a:bodyPr wrap="square" lIns="0" tIns="0" rIns="0" bIns="0" rtlCol="0" anchor="ctr"/>
          <a:lstStyle/>
          <a:p>
            <a:pPr indent="0" marL="0">
              <a:buNone/>
            </a:pPr>
            <a:r>
              <a:rPr lang="en-US" sz="1300" b="1" dirty="0">
                <a:solidFill>
                  <a:srgbClr val="111827"/>
                </a:solidFill>
              </a:rPr>
              <a:t>Release risk</a:t>
            </a:r>
            <a:endParaRPr lang="en-US" sz="1300" dirty="0"/>
          </a:p>
        </p:txBody>
      </p:sp>
      <p:sp>
        <p:nvSpPr>
          <p:cNvPr id="16" name="Text 14"/>
          <p:cNvSpPr/>
          <p:nvPr/>
        </p:nvSpPr>
        <p:spPr>
          <a:xfrm>
            <a:off x="8842248" y="2450592"/>
            <a:ext cx="2596896" cy="5943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Customer-facing notes can overclaim compliance support.</a:t>
            </a:r>
            <a:endParaRPr lang="en-US" sz="1020" dirty="0"/>
          </a:p>
        </p:txBody>
      </p:sp>
      <p:sp>
        <p:nvSpPr>
          <p:cNvPr id="17" name="Shape 15"/>
          <p:cNvSpPr/>
          <p:nvPr/>
        </p:nvSpPr>
        <p:spPr>
          <a:xfrm>
            <a:off x="3611880" y="2560320"/>
            <a:ext cx="1033272" cy="0"/>
          </a:xfrm>
          <a:prstGeom prst="line">
            <a:avLst/>
          </a:prstGeom>
          <a:noFill/>
          <a:ln w="17780">
            <a:solidFill>
              <a:srgbClr val="94A3B8"/>
            </a:solidFill>
            <a:prstDash val="solid"/>
            <a:headEnd type="none"/>
            <a:tailEnd type="triangle"/>
          </a:ln>
        </p:spPr>
      </p:sp>
      <p:sp>
        <p:nvSpPr>
          <p:cNvPr id="18" name="Shape 16"/>
          <p:cNvSpPr/>
          <p:nvPr/>
        </p:nvSpPr>
        <p:spPr>
          <a:xfrm>
            <a:off x="7589520" y="2560320"/>
            <a:ext cx="1033272" cy="0"/>
          </a:xfrm>
          <a:prstGeom prst="line">
            <a:avLst/>
          </a:prstGeom>
          <a:noFill/>
          <a:ln w="17780">
            <a:solidFill>
              <a:srgbClr val="94A3B8"/>
            </a:solidFill>
            <a:prstDash val="solid"/>
            <a:headEnd type="none"/>
            <a:tailEnd type="triangle"/>
          </a:ln>
        </p:spPr>
      </p:sp>
      <p:sp>
        <p:nvSpPr>
          <p:cNvPr id="19" name="Text 17"/>
          <p:cNvSpPr/>
          <p:nvPr/>
        </p:nvSpPr>
        <p:spPr>
          <a:xfrm>
            <a:off x="685800" y="3794760"/>
            <a:ext cx="2926080" cy="228600"/>
          </a:xfrm>
          <a:prstGeom prst="rect">
            <a:avLst/>
          </a:prstGeom>
          <a:noFill/>
          <a:ln/>
        </p:spPr>
        <p:txBody>
          <a:bodyPr wrap="square" lIns="0" tIns="0" rIns="0" bIns="0" rtlCol="0" anchor="ctr"/>
          <a:lstStyle/>
          <a:p>
            <a:pPr indent="0" marL="0">
              <a:buNone/>
            </a:pPr>
            <a:r>
              <a:rPr lang="en-US" sz="1200" b="1" dirty="0">
                <a:solidFill>
                  <a:srgbClr val="111827"/>
                </a:solidFill>
              </a:rPr>
              <a:t>Typical failure pattern</a:t>
            </a:r>
            <a:endParaRPr lang="en-US" sz="1200" dirty="0"/>
          </a:p>
        </p:txBody>
      </p:sp>
      <p:sp>
        <p:nvSpPr>
          <p:cNvPr id="20" name="Text 18"/>
          <p:cNvSpPr/>
          <p:nvPr/>
        </p:nvSpPr>
        <p:spPr>
          <a:xfrm>
            <a:off x="685800" y="4114800"/>
            <a:ext cx="5303520" cy="685800"/>
          </a:xfrm>
          <a:prstGeom prst="rect">
            <a:avLst/>
          </a:prstGeom>
          <a:noFill/>
          <a:ln/>
        </p:spPr>
        <p:txBody>
          <a:bodyPr wrap="square" lIns="254" tIns="254" rIns="254" bIns="254" rtlCol="0" anchor="ctr">
            <a:normAutofit/>
          </a:bodyPr>
          <a:lstStyle/>
          <a:p>
            <a:pPr indent="0" marL="0">
              <a:buNone/>
            </a:pPr>
            <a:r>
              <a:rPr lang="en-US" sz="1800" b="1" dirty="0">
                <a:solidFill>
                  <a:srgbClr val="111827"/>
                </a:solidFill>
              </a:rPr>
              <a:t>“The model drafted it” becomes a weak substitute for evidence, reviewer judgment and QA coverage.</a:t>
            </a:r>
            <a:endParaRPr lang="en-US" sz="1800" dirty="0"/>
          </a:p>
        </p:txBody>
      </p:sp>
      <p:sp>
        <p:nvSpPr>
          <p:cNvPr id="21" name="Shape 19"/>
          <p:cNvSpPr/>
          <p:nvPr/>
        </p:nvSpPr>
        <p:spPr>
          <a:xfrm>
            <a:off x="6583680" y="3703320"/>
            <a:ext cx="4480560" cy="1325880"/>
          </a:xfrm>
          <a:prstGeom prst="roundRect">
            <a:avLst>
              <a:gd name="adj" fmla="val 6897"/>
            </a:avLst>
          </a:prstGeom>
          <a:solidFill>
            <a:srgbClr val="FEF2F2"/>
          </a:solidFill>
          <a:ln w="12700">
            <a:solidFill>
              <a:srgbClr val="FECACA"/>
            </a:solidFill>
            <a:prstDash val="solid"/>
          </a:ln>
        </p:spPr>
      </p:sp>
      <p:sp>
        <p:nvSpPr>
          <p:cNvPr id="22" name="Text 20"/>
          <p:cNvSpPr/>
          <p:nvPr/>
        </p:nvSpPr>
        <p:spPr>
          <a:xfrm>
            <a:off x="6812280" y="3886200"/>
            <a:ext cx="2011680" cy="182880"/>
          </a:xfrm>
          <a:prstGeom prst="rect">
            <a:avLst/>
          </a:prstGeom>
          <a:noFill/>
          <a:ln/>
        </p:spPr>
        <p:txBody>
          <a:bodyPr wrap="square" lIns="0" tIns="0" rIns="0" bIns="0" rtlCol="0" anchor="ctr"/>
          <a:lstStyle/>
          <a:p>
            <a:pPr indent="0" marL="0">
              <a:buNone/>
            </a:pPr>
            <a:r>
              <a:rPr lang="en-US" sz="1100" b="1" dirty="0">
                <a:solidFill>
                  <a:srgbClr val="EF4444"/>
                </a:solidFill>
              </a:rPr>
              <a:t>Portfolio signal</a:t>
            </a:r>
            <a:endParaRPr lang="en-US" sz="1100" dirty="0"/>
          </a:p>
        </p:txBody>
      </p:sp>
      <p:sp>
        <p:nvSpPr>
          <p:cNvPr id="23" name="Text 21"/>
          <p:cNvSpPr/>
          <p:nvPr/>
        </p:nvSpPr>
        <p:spPr>
          <a:xfrm>
            <a:off x="6812280" y="4224528"/>
            <a:ext cx="3977640" cy="457200"/>
          </a:xfrm>
          <a:prstGeom prst="rect">
            <a:avLst/>
          </a:prstGeom>
          <a:noFill/>
          <a:ln/>
        </p:spPr>
        <p:txBody>
          <a:bodyPr wrap="square" lIns="254" tIns="254" rIns="254" bIns="254" rtlCol="0" anchor="ctr">
            <a:normAutofit/>
          </a:bodyPr>
          <a:lstStyle/>
          <a:p>
            <a:pPr indent="0" marL="0">
              <a:buNone/>
            </a:pPr>
            <a:r>
              <a:rPr lang="en-US" sz="1150" dirty="0">
                <a:solidFill>
                  <a:srgbClr val="111827"/>
                </a:solidFill>
              </a:rPr>
              <a:t>Design AI workflows that slow down at the right points: review, evidence, QA, release wording and audit.</a:t>
            </a:r>
            <a:endParaRPr lang="en-US" sz="1150" dirty="0"/>
          </a:p>
        </p:txBody>
      </p:sp>
      <p:sp>
        <p:nvSpPr>
          <p:cNvPr id="24" name="Shape 22"/>
          <p:cNvSpPr/>
          <p:nvPr/>
        </p:nvSpPr>
        <p:spPr>
          <a:xfrm>
            <a:off x="594360" y="6446520"/>
            <a:ext cx="10972800" cy="0"/>
          </a:xfrm>
          <a:prstGeom prst="line">
            <a:avLst/>
          </a:prstGeom>
          <a:noFill/>
          <a:ln w="6350">
            <a:solidFill>
              <a:srgbClr val="CBD5E1"/>
            </a:solidFill>
            <a:prstDash val="solid"/>
          </a:ln>
        </p:spPr>
      </p:sp>
      <p:sp>
        <p:nvSpPr>
          <p:cNvPr id="25" name="Text 23"/>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26" name="Text 24"/>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HERO CASE</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Hero case: SAF‑T PT / e‑invoicing</a:t>
            </a:r>
            <a:endParaRPr lang="en-US" sz="2800" dirty="0"/>
          </a:p>
        </p:txBody>
      </p:sp>
      <p:sp>
        <p:nvSpPr>
          <p:cNvPr id="4" name="Text 2"/>
          <p:cNvSpPr/>
          <p:nvPr/>
        </p:nvSpPr>
        <p:spPr>
          <a:xfrm>
            <a:off x="612648" y="1325880"/>
            <a:ext cx="8412480" cy="274320"/>
          </a:xfrm>
          <a:prstGeom prst="rect">
            <a:avLst/>
          </a:prstGeom>
          <a:noFill/>
          <a:ln/>
        </p:spPr>
        <p:txBody>
          <a:bodyPr wrap="square" lIns="0" tIns="0" rIns="0" bIns="0" rtlCol="0" anchor="ctr"/>
          <a:lstStyle/>
          <a:p>
            <a:pPr indent="0" marL="0">
              <a:buNone/>
            </a:pPr>
            <a:r>
              <a:rPr lang="en-US" sz="1500" dirty="0">
                <a:solidFill>
                  <a:srgbClr val="475569"/>
                </a:solidFill>
              </a:rPr>
              <a:t>One compliance-sensitive input is traced all the way to product, QA, release and audit artifacts.</a:t>
            </a:r>
            <a:endParaRPr lang="en-US" sz="1500" dirty="0"/>
          </a:p>
        </p:txBody>
      </p:sp>
      <p:sp>
        <p:nvSpPr>
          <p:cNvPr id="5" name="Shape 3"/>
          <p:cNvSpPr/>
          <p:nvPr/>
        </p:nvSpPr>
        <p:spPr>
          <a:xfrm>
            <a:off x="731520" y="1874520"/>
            <a:ext cx="4754880" cy="1645920"/>
          </a:xfrm>
          <a:prstGeom prst="roundRect">
            <a:avLst>
              <a:gd name="adj" fmla="val 4444"/>
            </a:avLst>
          </a:prstGeom>
          <a:solidFill>
            <a:srgbClr val="FFFFFF"/>
          </a:solidFill>
          <a:ln w="12700">
            <a:solidFill>
              <a:srgbClr val="E2E8F0"/>
            </a:solidFill>
            <a:prstDash val="solid"/>
          </a:ln>
        </p:spPr>
      </p:sp>
      <p:sp>
        <p:nvSpPr>
          <p:cNvPr id="6" name="Shape 4"/>
          <p:cNvSpPr/>
          <p:nvPr/>
        </p:nvSpPr>
        <p:spPr>
          <a:xfrm>
            <a:off x="731520" y="1874520"/>
            <a:ext cx="73152" cy="1645920"/>
          </a:xfrm>
          <a:prstGeom prst="rect">
            <a:avLst/>
          </a:prstGeom>
          <a:solidFill>
            <a:srgbClr val="2563EB"/>
          </a:solidFill>
          <a:ln w="12700">
            <a:solidFill>
              <a:srgbClr val="333333">
                <a:alpha val="0"/>
              </a:srgbClr>
            </a:solidFill>
            <a:prstDash val="solid"/>
          </a:ln>
        </p:spPr>
      </p:sp>
      <p:sp>
        <p:nvSpPr>
          <p:cNvPr id="7" name="Text 5"/>
          <p:cNvSpPr/>
          <p:nvPr/>
        </p:nvSpPr>
        <p:spPr>
          <a:xfrm>
            <a:off x="932688" y="2039112"/>
            <a:ext cx="4425696" cy="219456"/>
          </a:xfrm>
          <a:prstGeom prst="rect">
            <a:avLst/>
          </a:prstGeom>
          <a:noFill/>
          <a:ln/>
        </p:spPr>
        <p:txBody>
          <a:bodyPr wrap="square" lIns="0" tIns="0" rIns="0" bIns="0" rtlCol="0" anchor="ctr"/>
          <a:lstStyle/>
          <a:p>
            <a:pPr indent="0" marL="0">
              <a:buNone/>
            </a:pPr>
            <a:r>
              <a:rPr lang="en-US" sz="1300" b="1" dirty="0">
                <a:solidFill>
                  <a:srgbClr val="111827"/>
                </a:solidFill>
              </a:rPr>
              <a:t>Input source</a:t>
            </a:r>
            <a:endParaRPr lang="en-US" sz="1300" dirty="0"/>
          </a:p>
        </p:txBody>
      </p:sp>
      <p:sp>
        <p:nvSpPr>
          <p:cNvPr id="8" name="Text 6"/>
          <p:cNvSpPr/>
          <p:nvPr/>
        </p:nvSpPr>
        <p:spPr>
          <a:xfrm>
            <a:off x="932688" y="2404872"/>
            <a:ext cx="4425696" cy="9601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Invoices in a Portuguese SAF‑T export must include customer tax ID, invoice date, tax code, invoice total and applicable customer account reference.</a:t>
            </a:r>
            <a:endParaRPr lang="en-US" sz="1020" dirty="0"/>
          </a:p>
        </p:txBody>
      </p:sp>
      <p:sp>
        <p:nvSpPr>
          <p:cNvPr id="9" name="Shape 7"/>
          <p:cNvSpPr/>
          <p:nvPr/>
        </p:nvSpPr>
        <p:spPr>
          <a:xfrm>
            <a:off x="6263640" y="1874520"/>
            <a:ext cx="4754880" cy="1645920"/>
          </a:xfrm>
          <a:prstGeom prst="roundRect">
            <a:avLst>
              <a:gd name="adj" fmla="val 4444"/>
            </a:avLst>
          </a:prstGeom>
          <a:solidFill>
            <a:srgbClr val="FFFFFF"/>
          </a:solidFill>
          <a:ln w="12700">
            <a:solidFill>
              <a:srgbClr val="E2E8F0"/>
            </a:solidFill>
            <a:prstDash val="solid"/>
          </a:ln>
        </p:spPr>
      </p:sp>
      <p:sp>
        <p:nvSpPr>
          <p:cNvPr id="10" name="Shape 8"/>
          <p:cNvSpPr/>
          <p:nvPr/>
        </p:nvSpPr>
        <p:spPr>
          <a:xfrm>
            <a:off x="6263640" y="1874520"/>
            <a:ext cx="73152" cy="1645920"/>
          </a:xfrm>
          <a:prstGeom prst="rect">
            <a:avLst/>
          </a:prstGeom>
          <a:solidFill>
            <a:srgbClr val="F59E0B"/>
          </a:solidFill>
          <a:ln w="12700">
            <a:solidFill>
              <a:srgbClr val="333333">
                <a:alpha val="0"/>
              </a:srgbClr>
            </a:solidFill>
            <a:prstDash val="solid"/>
          </a:ln>
        </p:spPr>
      </p:sp>
      <p:sp>
        <p:nvSpPr>
          <p:cNvPr id="11" name="Text 9"/>
          <p:cNvSpPr/>
          <p:nvPr/>
        </p:nvSpPr>
        <p:spPr>
          <a:xfrm>
            <a:off x="6464808" y="2039112"/>
            <a:ext cx="4425696" cy="219456"/>
          </a:xfrm>
          <a:prstGeom prst="rect">
            <a:avLst/>
          </a:prstGeom>
          <a:noFill/>
          <a:ln/>
        </p:spPr>
        <p:txBody>
          <a:bodyPr wrap="square" lIns="0" tIns="0" rIns="0" bIns="0" rtlCol="0" anchor="ctr"/>
          <a:lstStyle/>
          <a:p>
            <a:pPr indent="0" marL="0">
              <a:buNone/>
            </a:pPr>
            <a:r>
              <a:rPr lang="en-US" sz="1300" b="1" dirty="0">
                <a:solidFill>
                  <a:srgbClr val="111827"/>
                </a:solidFill>
              </a:rPr>
              <a:t>Product risk</a:t>
            </a:r>
            <a:endParaRPr lang="en-US" sz="1300" dirty="0"/>
          </a:p>
        </p:txBody>
      </p:sp>
      <p:sp>
        <p:nvSpPr>
          <p:cNvPr id="12" name="Text 10"/>
          <p:cNvSpPr/>
          <p:nvPr/>
        </p:nvSpPr>
        <p:spPr>
          <a:xfrm>
            <a:off x="6464808" y="2404872"/>
            <a:ext cx="4425696" cy="9601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A vague requirement like “validate SAF‑T invoice data” is not enough to drive QA, release readiness or audit evidence.</a:t>
            </a:r>
            <a:endParaRPr lang="en-US" sz="1020" dirty="0"/>
          </a:p>
        </p:txBody>
      </p:sp>
      <p:sp>
        <p:nvSpPr>
          <p:cNvPr id="13" name="Text 11"/>
          <p:cNvSpPr/>
          <p:nvPr/>
        </p:nvSpPr>
        <p:spPr>
          <a:xfrm>
            <a:off x="777240" y="4069080"/>
            <a:ext cx="2377440" cy="256032"/>
          </a:xfrm>
          <a:prstGeom prst="rect">
            <a:avLst/>
          </a:prstGeom>
          <a:noFill/>
          <a:ln/>
        </p:spPr>
        <p:txBody>
          <a:bodyPr wrap="square" lIns="0" tIns="0" rIns="0" bIns="0" rtlCol="0" anchor="ctr"/>
          <a:lstStyle/>
          <a:p>
            <a:pPr indent="0" marL="0">
              <a:buNone/>
            </a:pPr>
            <a:r>
              <a:rPr lang="en-US" sz="1400" b="1" dirty="0">
                <a:solidFill>
                  <a:srgbClr val="111827"/>
                </a:solidFill>
              </a:rPr>
              <a:t>Reviewed requirement</a:t>
            </a:r>
            <a:endParaRPr lang="en-US" sz="1400" dirty="0"/>
          </a:p>
        </p:txBody>
      </p:sp>
      <p:sp>
        <p:nvSpPr>
          <p:cNvPr id="14" name="Text 12"/>
          <p:cNvSpPr/>
          <p:nvPr/>
        </p:nvSpPr>
        <p:spPr>
          <a:xfrm>
            <a:off x="777240" y="4434840"/>
            <a:ext cx="9921240" cy="841248"/>
          </a:xfrm>
          <a:prstGeom prst="rect">
            <a:avLst/>
          </a:prstGeom>
          <a:noFill/>
          <a:ln/>
        </p:spPr>
        <p:txBody>
          <a:bodyPr wrap="square" lIns="381" tIns="381" rIns="381" bIns="381" rtlCol="0" anchor="ctr">
            <a:normAutofit/>
          </a:bodyPr>
          <a:lstStyle/>
          <a:p>
            <a:pPr indent="0" marL="0">
              <a:buNone/>
            </a:pPr>
            <a:r>
              <a:rPr lang="en-US" sz="1320" dirty="0">
                <a:solidFill>
                  <a:srgbClr val="111827"/>
                </a:solidFill>
              </a:rPr>
              <a:t>The system must validate sales invoice records before SAF‑T export for customer tax identification number, invoice date, tax code, invoice total and customer account reference when applicable. Missing identifiers or inconsistent totals must be flagged with validation reasons in the review report.</a:t>
            </a:r>
            <a:endParaRPr lang="en-US" sz="1320" dirty="0"/>
          </a:p>
        </p:txBody>
      </p:sp>
      <p:sp>
        <p:nvSpPr>
          <p:cNvPr id="15" name="Shape 13"/>
          <p:cNvSpPr/>
          <p:nvPr/>
        </p:nvSpPr>
        <p:spPr>
          <a:xfrm>
            <a:off x="594360" y="6446520"/>
            <a:ext cx="10972800" cy="0"/>
          </a:xfrm>
          <a:prstGeom prst="line">
            <a:avLst/>
          </a:prstGeom>
          <a:noFill/>
          <a:ln w="6350">
            <a:solidFill>
              <a:srgbClr val="CBD5E1"/>
            </a:solidFill>
            <a:prstDash val="solid"/>
          </a:ln>
        </p:spPr>
      </p:sp>
      <p:sp>
        <p:nvSpPr>
          <p:cNvPr id="16" name="Text 14"/>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17" name="Text 15"/>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WORKFLOW</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The hero workflow is the product</a:t>
            </a:r>
            <a:endParaRPr lang="en-US" sz="2800" dirty="0"/>
          </a:p>
        </p:txBody>
      </p:sp>
      <p:sp>
        <p:nvSpPr>
          <p:cNvPr id="4" name="Shape 2"/>
          <p:cNvSpPr/>
          <p:nvPr/>
        </p:nvSpPr>
        <p:spPr>
          <a:xfrm>
            <a:off x="566928" y="1874520"/>
            <a:ext cx="1143000" cy="1143000"/>
          </a:xfrm>
          <a:prstGeom prst="ellipse">
            <a:avLst/>
          </a:prstGeom>
          <a:solidFill>
            <a:srgbClr val="2563EB">
              <a:alpha val="98000"/>
            </a:srgbClr>
          </a:solidFill>
          <a:ln w="12700">
            <a:solidFill>
              <a:srgbClr val="FFFFFF"/>
            </a:solidFill>
            <a:prstDash val="solid"/>
          </a:ln>
        </p:spPr>
      </p:sp>
      <p:sp>
        <p:nvSpPr>
          <p:cNvPr id="5" name="Text 3"/>
          <p:cNvSpPr/>
          <p:nvPr/>
        </p:nvSpPr>
        <p:spPr>
          <a:xfrm>
            <a:off x="566928"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p:nvPr/>
        </p:nvSpPr>
        <p:spPr>
          <a:xfrm>
            <a:off x="521208"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Source</a:t>
            </a:r>
            <a:endParaRPr lang="en-US" sz="950" dirty="0"/>
          </a:p>
        </p:txBody>
      </p:sp>
      <p:sp>
        <p:nvSpPr>
          <p:cNvPr id="7" name="Shape 5"/>
          <p:cNvSpPr/>
          <p:nvPr/>
        </p:nvSpPr>
        <p:spPr>
          <a:xfrm>
            <a:off x="1801368" y="2194560"/>
            <a:ext cx="393192" cy="0"/>
          </a:xfrm>
          <a:prstGeom prst="line">
            <a:avLst/>
          </a:prstGeom>
          <a:noFill/>
          <a:ln w="17780">
            <a:solidFill>
              <a:srgbClr val="94A3B8"/>
            </a:solidFill>
            <a:prstDash val="solid"/>
            <a:headEnd type="none"/>
            <a:tailEnd type="triangle"/>
          </a:ln>
        </p:spPr>
      </p:sp>
      <p:sp>
        <p:nvSpPr>
          <p:cNvPr id="8" name="Shape 6"/>
          <p:cNvSpPr/>
          <p:nvPr/>
        </p:nvSpPr>
        <p:spPr>
          <a:xfrm>
            <a:off x="2240280" y="1874520"/>
            <a:ext cx="1143000" cy="1143000"/>
          </a:xfrm>
          <a:prstGeom prst="ellipse">
            <a:avLst/>
          </a:prstGeom>
          <a:solidFill>
            <a:srgbClr val="10B981">
              <a:alpha val="98000"/>
            </a:srgbClr>
          </a:solidFill>
          <a:ln w="12700">
            <a:solidFill>
              <a:srgbClr val="FFFFFF"/>
            </a:solidFill>
            <a:prstDash val="solid"/>
          </a:ln>
        </p:spPr>
      </p:sp>
      <p:sp>
        <p:nvSpPr>
          <p:cNvPr id="9" name="Text 7"/>
          <p:cNvSpPr/>
          <p:nvPr/>
        </p:nvSpPr>
        <p:spPr>
          <a:xfrm>
            <a:off x="224028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p:nvPr/>
        </p:nvSpPr>
        <p:spPr>
          <a:xfrm>
            <a:off x="219456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Obligation</a:t>
            </a:r>
            <a:endParaRPr lang="en-US" sz="950" dirty="0"/>
          </a:p>
        </p:txBody>
      </p:sp>
      <p:sp>
        <p:nvSpPr>
          <p:cNvPr id="11" name="Shape 9"/>
          <p:cNvSpPr/>
          <p:nvPr/>
        </p:nvSpPr>
        <p:spPr>
          <a:xfrm>
            <a:off x="3474720" y="2194560"/>
            <a:ext cx="411480" cy="0"/>
          </a:xfrm>
          <a:prstGeom prst="line">
            <a:avLst/>
          </a:prstGeom>
          <a:noFill/>
          <a:ln w="17780">
            <a:solidFill>
              <a:srgbClr val="94A3B8"/>
            </a:solidFill>
            <a:prstDash val="solid"/>
            <a:headEnd type="none"/>
            <a:tailEnd type="triangle"/>
          </a:ln>
        </p:spPr>
      </p:sp>
      <p:sp>
        <p:nvSpPr>
          <p:cNvPr id="12" name="Shape 10"/>
          <p:cNvSpPr/>
          <p:nvPr/>
        </p:nvSpPr>
        <p:spPr>
          <a:xfrm>
            <a:off x="3931920" y="1874520"/>
            <a:ext cx="1143000" cy="1143000"/>
          </a:xfrm>
          <a:prstGeom prst="ellipse">
            <a:avLst/>
          </a:prstGeom>
          <a:solidFill>
            <a:srgbClr val="7C3AED">
              <a:alpha val="98000"/>
            </a:srgbClr>
          </a:solidFill>
          <a:ln w="12700">
            <a:solidFill>
              <a:srgbClr val="FFFFFF"/>
            </a:solidFill>
            <a:prstDash val="solid"/>
          </a:ln>
        </p:spPr>
      </p:sp>
      <p:sp>
        <p:nvSpPr>
          <p:cNvPr id="13" name="Text 11"/>
          <p:cNvSpPr/>
          <p:nvPr/>
        </p:nvSpPr>
        <p:spPr>
          <a:xfrm>
            <a:off x="393192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4" name="Text 12"/>
          <p:cNvSpPr/>
          <p:nvPr/>
        </p:nvSpPr>
        <p:spPr>
          <a:xfrm>
            <a:off x="388620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Review</a:t>
            </a:r>
            <a:endParaRPr lang="en-US" sz="950" dirty="0"/>
          </a:p>
        </p:txBody>
      </p:sp>
      <p:sp>
        <p:nvSpPr>
          <p:cNvPr id="15" name="Shape 13"/>
          <p:cNvSpPr/>
          <p:nvPr/>
        </p:nvSpPr>
        <p:spPr>
          <a:xfrm>
            <a:off x="5166360" y="2194560"/>
            <a:ext cx="411480" cy="0"/>
          </a:xfrm>
          <a:prstGeom prst="line">
            <a:avLst/>
          </a:prstGeom>
          <a:noFill/>
          <a:ln w="17780">
            <a:solidFill>
              <a:srgbClr val="94A3B8"/>
            </a:solidFill>
            <a:prstDash val="solid"/>
            <a:headEnd type="none"/>
            <a:tailEnd type="triangle"/>
          </a:ln>
        </p:spPr>
      </p:sp>
      <p:sp>
        <p:nvSpPr>
          <p:cNvPr id="16" name="Shape 14"/>
          <p:cNvSpPr/>
          <p:nvPr/>
        </p:nvSpPr>
        <p:spPr>
          <a:xfrm>
            <a:off x="5623560" y="1874520"/>
            <a:ext cx="1143000" cy="1143000"/>
          </a:xfrm>
          <a:prstGeom prst="ellipse">
            <a:avLst/>
          </a:prstGeom>
          <a:solidFill>
            <a:srgbClr val="F59E0B">
              <a:alpha val="98000"/>
            </a:srgbClr>
          </a:solidFill>
          <a:ln w="12700">
            <a:solidFill>
              <a:srgbClr val="FFFFFF"/>
            </a:solidFill>
            <a:prstDash val="solid"/>
          </a:ln>
        </p:spPr>
      </p:sp>
      <p:sp>
        <p:nvSpPr>
          <p:cNvPr id="17" name="Text 15"/>
          <p:cNvSpPr/>
          <p:nvPr/>
        </p:nvSpPr>
        <p:spPr>
          <a:xfrm>
            <a:off x="562356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8" name="Text 16"/>
          <p:cNvSpPr/>
          <p:nvPr/>
        </p:nvSpPr>
        <p:spPr>
          <a:xfrm>
            <a:off x="557784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Requirement</a:t>
            </a:r>
            <a:endParaRPr lang="en-US" sz="950" dirty="0"/>
          </a:p>
        </p:txBody>
      </p:sp>
      <p:sp>
        <p:nvSpPr>
          <p:cNvPr id="19" name="Shape 17"/>
          <p:cNvSpPr/>
          <p:nvPr/>
        </p:nvSpPr>
        <p:spPr>
          <a:xfrm>
            <a:off x="6858000" y="2194560"/>
            <a:ext cx="411480" cy="0"/>
          </a:xfrm>
          <a:prstGeom prst="line">
            <a:avLst/>
          </a:prstGeom>
          <a:noFill/>
          <a:ln w="17780">
            <a:solidFill>
              <a:srgbClr val="94A3B8"/>
            </a:solidFill>
            <a:prstDash val="solid"/>
            <a:headEnd type="none"/>
            <a:tailEnd type="triangle"/>
          </a:ln>
        </p:spPr>
      </p:sp>
      <p:sp>
        <p:nvSpPr>
          <p:cNvPr id="20" name="Shape 18"/>
          <p:cNvSpPr/>
          <p:nvPr/>
        </p:nvSpPr>
        <p:spPr>
          <a:xfrm>
            <a:off x="7315200" y="1874520"/>
            <a:ext cx="1143000" cy="1143000"/>
          </a:xfrm>
          <a:prstGeom prst="ellipse">
            <a:avLst/>
          </a:prstGeom>
          <a:solidFill>
            <a:srgbClr val="EF4444">
              <a:alpha val="98000"/>
            </a:srgbClr>
          </a:solidFill>
          <a:ln w="12700">
            <a:solidFill>
              <a:srgbClr val="FFFFFF"/>
            </a:solidFill>
            <a:prstDash val="solid"/>
          </a:ln>
        </p:spPr>
      </p:sp>
      <p:sp>
        <p:nvSpPr>
          <p:cNvPr id="21" name="Text 19"/>
          <p:cNvSpPr/>
          <p:nvPr/>
        </p:nvSpPr>
        <p:spPr>
          <a:xfrm>
            <a:off x="731520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2" name="Text 20"/>
          <p:cNvSpPr/>
          <p:nvPr/>
        </p:nvSpPr>
        <p:spPr>
          <a:xfrm>
            <a:off x="726948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QA</a:t>
            </a:r>
            <a:endParaRPr lang="en-US" sz="950" dirty="0"/>
          </a:p>
        </p:txBody>
      </p:sp>
      <p:sp>
        <p:nvSpPr>
          <p:cNvPr id="23" name="Shape 21"/>
          <p:cNvSpPr/>
          <p:nvPr/>
        </p:nvSpPr>
        <p:spPr>
          <a:xfrm>
            <a:off x="8549640" y="2194560"/>
            <a:ext cx="411480" cy="0"/>
          </a:xfrm>
          <a:prstGeom prst="line">
            <a:avLst/>
          </a:prstGeom>
          <a:noFill/>
          <a:ln w="17780">
            <a:solidFill>
              <a:srgbClr val="94A3B8"/>
            </a:solidFill>
            <a:prstDash val="solid"/>
            <a:headEnd type="none"/>
            <a:tailEnd type="triangle"/>
          </a:ln>
        </p:spPr>
      </p:sp>
      <p:sp>
        <p:nvSpPr>
          <p:cNvPr id="24" name="Shape 22"/>
          <p:cNvSpPr/>
          <p:nvPr/>
        </p:nvSpPr>
        <p:spPr>
          <a:xfrm>
            <a:off x="9006840" y="1874520"/>
            <a:ext cx="1143000" cy="1143000"/>
          </a:xfrm>
          <a:prstGeom prst="ellipse">
            <a:avLst/>
          </a:prstGeom>
          <a:solidFill>
            <a:srgbClr val="1D9BF0">
              <a:alpha val="98000"/>
            </a:srgbClr>
          </a:solidFill>
          <a:ln w="12700">
            <a:solidFill>
              <a:srgbClr val="FFFFFF"/>
            </a:solidFill>
            <a:prstDash val="solid"/>
          </a:ln>
        </p:spPr>
      </p:sp>
      <p:sp>
        <p:nvSpPr>
          <p:cNvPr id="25" name="Text 23"/>
          <p:cNvSpPr/>
          <p:nvPr/>
        </p:nvSpPr>
        <p:spPr>
          <a:xfrm>
            <a:off x="900684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6" name="Text 24"/>
          <p:cNvSpPr/>
          <p:nvPr/>
        </p:nvSpPr>
        <p:spPr>
          <a:xfrm>
            <a:off x="896112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Release</a:t>
            </a:r>
            <a:endParaRPr lang="en-US" sz="950" dirty="0"/>
          </a:p>
        </p:txBody>
      </p:sp>
      <p:sp>
        <p:nvSpPr>
          <p:cNvPr id="27" name="Shape 25"/>
          <p:cNvSpPr/>
          <p:nvPr/>
        </p:nvSpPr>
        <p:spPr>
          <a:xfrm>
            <a:off x="10241280" y="2194560"/>
            <a:ext cx="0" cy="0"/>
          </a:xfrm>
          <a:prstGeom prst="line">
            <a:avLst/>
          </a:prstGeom>
          <a:noFill/>
          <a:ln w="17780">
            <a:solidFill>
              <a:srgbClr val="94A3B8"/>
            </a:solidFill>
            <a:prstDash val="solid"/>
            <a:headEnd type="none"/>
            <a:tailEnd type="triangle"/>
          </a:ln>
        </p:spPr>
      </p:sp>
      <p:sp>
        <p:nvSpPr>
          <p:cNvPr id="28" name="Shape 26"/>
          <p:cNvSpPr/>
          <p:nvPr/>
        </p:nvSpPr>
        <p:spPr>
          <a:xfrm>
            <a:off x="10287000" y="1874520"/>
            <a:ext cx="1143000" cy="1143000"/>
          </a:xfrm>
          <a:prstGeom prst="ellipse">
            <a:avLst/>
          </a:prstGeom>
          <a:solidFill>
            <a:srgbClr val="111827">
              <a:alpha val="98000"/>
            </a:srgbClr>
          </a:solidFill>
          <a:ln w="12700">
            <a:solidFill>
              <a:srgbClr val="FFFFFF"/>
            </a:solidFill>
            <a:prstDash val="solid"/>
          </a:ln>
        </p:spPr>
      </p:sp>
      <p:sp>
        <p:nvSpPr>
          <p:cNvPr id="29" name="Text 27"/>
          <p:cNvSpPr/>
          <p:nvPr/>
        </p:nvSpPr>
        <p:spPr>
          <a:xfrm>
            <a:off x="10287000" y="2258568"/>
            <a:ext cx="1143000" cy="20116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0" name="Text 28"/>
          <p:cNvSpPr/>
          <p:nvPr/>
        </p:nvSpPr>
        <p:spPr>
          <a:xfrm>
            <a:off x="10241280" y="3200400"/>
            <a:ext cx="914400" cy="201168"/>
          </a:xfrm>
          <a:prstGeom prst="rect">
            <a:avLst/>
          </a:prstGeom>
          <a:noFill/>
          <a:ln/>
        </p:spPr>
        <p:txBody>
          <a:bodyPr wrap="square" lIns="0" tIns="0" rIns="0" bIns="0" rtlCol="0" anchor="ctr"/>
          <a:lstStyle/>
          <a:p>
            <a:pPr algn="ctr" indent="0" marL="0">
              <a:buNone/>
            </a:pPr>
            <a:r>
              <a:rPr lang="en-US" sz="950" b="1" dirty="0">
                <a:solidFill>
                  <a:srgbClr val="111827"/>
                </a:solidFill>
              </a:rPr>
              <a:t>Audit</a:t>
            </a:r>
            <a:endParaRPr lang="en-US" sz="950" dirty="0"/>
          </a:p>
        </p:txBody>
      </p:sp>
      <p:sp>
        <p:nvSpPr>
          <p:cNvPr id="31" name="Text 29"/>
          <p:cNvSpPr/>
          <p:nvPr/>
        </p:nvSpPr>
        <p:spPr>
          <a:xfrm>
            <a:off x="685800" y="4160520"/>
            <a:ext cx="3657600" cy="274320"/>
          </a:xfrm>
          <a:prstGeom prst="rect">
            <a:avLst/>
          </a:prstGeom>
          <a:noFill/>
          <a:ln/>
        </p:spPr>
        <p:txBody>
          <a:bodyPr wrap="square" lIns="0" tIns="0" rIns="0" bIns="0" rtlCol="0" anchor="ctr"/>
          <a:lstStyle/>
          <a:p>
            <a:pPr indent="0" marL="0">
              <a:buNone/>
            </a:pPr>
            <a:r>
              <a:rPr lang="en-US" sz="1600" b="1" dirty="0">
                <a:solidFill>
                  <a:srgbClr val="111827"/>
                </a:solidFill>
              </a:rPr>
              <a:t>What makes it credible</a:t>
            </a:r>
            <a:endParaRPr lang="en-US" sz="1600" dirty="0"/>
          </a:p>
        </p:txBody>
      </p:sp>
      <p:sp>
        <p:nvSpPr>
          <p:cNvPr id="32" name="Text 30"/>
          <p:cNvSpPr/>
          <p:nvPr/>
        </p:nvSpPr>
        <p:spPr>
          <a:xfrm>
            <a:off x="685800" y="4526280"/>
            <a:ext cx="5532120" cy="914400"/>
          </a:xfrm>
          <a:prstGeom prst="rect">
            <a:avLst/>
          </a:prstGeom>
          <a:noFill/>
          <a:ln/>
        </p:spPr>
        <p:txBody>
          <a:bodyPr wrap="square" lIns="254" tIns="254" rIns="254" bIns="254" rtlCol="0" anchor="ctr"/>
          <a:lstStyle/>
          <a:p>
            <a:pPr indent="0" marL="0">
              <a:buNone/>
            </a:pPr>
            <a:r>
              <a:rPr lang="en-US" sz="1250" dirty="0">
                <a:solidFill>
                  <a:srgbClr val="475569"/>
                </a:solidFill>
              </a:rPr>
              <a:t>• Reviewer corrections are saved as evidence</a:t>
            </a:r>
            <a:endParaRPr lang="en-US" sz="1250" dirty="0"/>
          </a:p>
          <a:p>
            <a:pPr indent="0" marL="0">
              <a:buNone/>
            </a:pPr>
            <a:r>
              <a:rPr lang="en-US" sz="1250" dirty="0">
                <a:solidFill>
                  <a:srgbClr val="475569"/>
                </a:solidFill>
              </a:rPr>
              <a:t>• QA includes mandatory negative coverage</a:t>
            </a:r>
            <a:endParaRPr lang="en-US" sz="1250" dirty="0"/>
          </a:p>
          <a:p>
            <a:pPr indent="0" marL="0">
              <a:buNone/>
            </a:pPr>
            <a:r>
              <a:rPr lang="en-US" sz="1250" dirty="0">
                <a:solidFill>
                  <a:srgbClr val="475569"/>
                </a:solidFill>
              </a:rPr>
              <a:t>• Release claims are rewritten with scope and caveats</a:t>
            </a:r>
            <a:endParaRPr lang="en-US" sz="1250" dirty="0"/>
          </a:p>
          <a:p>
            <a:pPr indent="0" marL="0">
              <a:buNone/>
            </a:pPr>
            <a:r>
              <a:rPr lang="en-US" sz="1250" dirty="0">
                <a:solidFill>
                  <a:srgbClr val="475569"/>
                </a:solidFill>
              </a:rPr>
              <a:t>• Final audit package shows supported, weak, missing and reviewed artifacts</a:t>
            </a:r>
            <a:endParaRPr lang="en-US" sz="1250" dirty="0"/>
          </a:p>
        </p:txBody>
      </p:sp>
      <p:sp>
        <p:nvSpPr>
          <p:cNvPr id="33" name="Shape 31"/>
          <p:cNvSpPr/>
          <p:nvPr/>
        </p:nvSpPr>
        <p:spPr>
          <a:xfrm>
            <a:off x="6629400" y="4114800"/>
            <a:ext cx="4526280" cy="1225296"/>
          </a:xfrm>
          <a:prstGeom prst="roundRect">
            <a:avLst>
              <a:gd name="adj" fmla="val 7463"/>
            </a:avLst>
          </a:prstGeom>
          <a:solidFill>
            <a:srgbClr val="ECFDF5"/>
          </a:solidFill>
          <a:ln w="12700">
            <a:solidFill>
              <a:srgbClr val="A7F3D0"/>
            </a:solidFill>
            <a:prstDash val="solid"/>
          </a:ln>
        </p:spPr>
      </p:sp>
      <p:sp>
        <p:nvSpPr>
          <p:cNvPr id="34" name="Text 32"/>
          <p:cNvSpPr/>
          <p:nvPr/>
        </p:nvSpPr>
        <p:spPr>
          <a:xfrm>
            <a:off x="6876288" y="4315968"/>
            <a:ext cx="1828800" cy="182880"/>
          </a:xfrm>
          <a:prstGeom prst="rect">
            <a:avLst/>
          </a:prstGeom>
          <a:noFill/>
          <a:ln/>
        </p:spPr>
        <p:txBody>
          <a:bodyPr wrap="square" lIns="0" tIns="0" rIns="0" bIns="0" rtlCol="0" anchor="ctr"/>
          <a:lstStyle/>
          <a:p>
            <a:pPr indent="0" marL="0">
              <a:buNone/>
            </a:pPr>
            <a:r>
              <a:rPr lang="en-US" sz="1100" b="1" dirty="0">
                <a:solidFill>
                  <a:srgbClr val="10B981"/>
                </a:solidFill>
              </a:rPr>
              <a:t>Staff PM signal</a:t>
            </a:r>
            <a:endParaRPr lang="en-US" sz="1100" dirty="0"/>
          </a:p>
        </p:txBody>
      </p:sp>
      <p:sp>
        <p:nvSpPr>
          <p:cNvPr id="35" name="Text 33"/>
          <p:cNvSpPr/>
          <p:nvPr/>
        </p:nvSpPr>
        <p:spPr>
          <a:xfrm>
            <a:off x="6876288" y="4636008"/>
            <a:ext cx="3886200" cy="393192"/>
          </a:xfrm>
          <a:prstGeom prst="rect">
            <a:avLst/>
          </a:prstGeom>
          <a:noFill/>
          <a:ln/>
        </p:spPr>
        <p:txBody>
          <a:bodyPr wrap="square" lIns="254" tIns="254" rIns="254" bIns="254" rtlCol="0" anchor="ctr"/>
          <a:lstStyle/>
          <a:p>
            <a:pPr indent="0" marL="0">
              <a:buNone/>
            </a:pPr>
            <a:r>
              <a:rPr lang="en-US" sz="1150" dirty="0">
                <a:solidFill>
                  <a:srgbClr val="111827"/>
                </a:solidFill>
              </a:rPr>
              <a:t>This is not a prompt demo. It is a product workflow with gates, evidence and explicit limitations.</a:t>
            </a:r>
            <a:endParaRPr lang="en-US" sz="1150" dirty="0"/>
          </a:p>
        </p:txBody>
      </p:sp>
      <p:sp>
        <p:nvSpPr>
          <p:cNvPr id="36" name="Shape 34"/>
          <p:cNvSpPr/>
          <p:nvPr/>
        </p:nvSpPr>
        <p:spPr>
          <a:xfrm>
            <a:off x="594360" y="6446520"/>
            <a:ext cx="10972800" cy="0"/>
          </a:xfrm>
          <a:prstGeom prst="line">
            <a:avLst/>
          </a:prstGeom>
          <a:noFill/>
          <a:ln w="6350">
            <a:solidFill>
              <a:srgbClr val="CBD5E1"/>
            </a:solidFill>
            <a:prstDash val="solid"/>
          </a:ln>
        </p:spPr>
      </p:sp>
      <p:sp>
        <p:nvSpPr>
          <p:cNvPr id="37" name="Text 35"/>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38" name="Text 36"/>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CONTROLS</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Human review is the safety layer</a:t>
            </a:r>
            <a:endParaRPr lang="en-US" sz="2800" dirty="0"/>
          </a:p>
        </p:txBody>
      </p:sp>
      <p:sp>
        <p:nvSpPr>
          <p:cNvPr id="4" name="Text 2"/>
          <p:cNvSpPr/>
          <p:nvPr/>
        </p:nvSpPr>
        <p:spPr>
          <a:xfrm>
            <a:off x="612648" y="1325880"/>
            <a:ext cx="7863840" cy="274320"/>
          </a:xfrm>
          <a:prstGeom prst="rect">
            <a:avLst/>
          </a:prstGeom>
          <a:noFill/>
          <a:ln/>
        </p:spPr>
        <p:txBody>
          <a:bodyPr wrap="square" lIns="0" tIns="0" rIns="0" bIns="0" rtlCol="0" anchor="ctr"/>
          <a:lstStyle/>
          <a:p>
            <a:pPr indent="0" marL="0">
              <a:buNone/>
            </a:pPr>
            <a:r>
              <a:rPr lang="en-US" sz="1500" dirty="0">
                <a:solidFill>
                  <a:srgbClr val="475569"/>
                </a:solidFill>
              </a:rPr>
              <a:t>AI drafts the structure; humans decide what becomes product truth.</a:t>
            </a:r>
            <a:endParaRPr lang="en-US" sz="1500" dirty="0"/>
          </a:p>
        </p:txBody>
      </p:sp>
      <p:sp>
        <p:nvSpPr>
          <p:cNvPr id="5" name="Shape 3"/>
          <p:cNvSpPr/>
          <p:nvPr/>
        </p:nvSpPr>
        <p:spPr>
          <a:xfrm>
            <a:off x="713232" y="1828800"/>
            <a:ext cx="3063240" cy="1325880"/>
          </a:xfrm>
          <a:prstGeom prst="roundRect">
            <a:avLst>
              <a:gd name="adj" fmla="val 5517"/>
            </a:avLst>
          </a:prstGeom>
          <a:solidFill>
            <a:srgbClr val="FFFFFF"/>
          </a:solidFill>
          <a:ln w="12700">
            <a:solidFill>
              <a:srgbClr val="E2E8F0"/>
            </a:solidFill>
            <a:prstDash val="solid"/>
          </a:ln>
        </p:spPr>
      </p:sp>
      <p:sp>
        <p:nvSpPr>
          <p:cNvPr id="6" name="Shape 4"/>
          <p:cNvSpPr/>
          <p:nvPr/>
        </p:nvSpPr>
        <p:spPr>
          <a:xfrm>
            <a:off x="713232" y="1828800"/>
            <a:ext cx="73152" cy="1325880"/>
          </a:xfrm>
          <a:prstGeom prst="rect">
            <a:avLst/>
          </a:prstGeom>
          <a:solidFill>
            <a:srgbClr val="10B981"/>
          </a:solidFill>
          <a:ln w="12700">
            <a:solidFill>
              <a:srgbClr val="333333">
                <a:alpha val="0"/>
              </a:srgbClr>
            </a:solidFill>
            <a:prstDash val="solid"/>
          </a:ln>
        </p:spPr>
      </p:sp>
      <p:sp>
        <p:nvSpPr>
          <p:cNvPr id="7" name="Text 5"/>
          <p:cNvSpPr/>
          <p:nvPr/>
        </p:nvSpPr>
        <p:spPr>
          <a:xfrm>
            <a:off x="914400" y="1993392"/>
            <a:ext cx="2734056" cy="219456"/>
          </a:xfrm>
          <a:prstGeom prst="rect">
            <a:avLst/>
          </a:prstGeom>
          <a:noFill/>
          <a:ln/>
        </p:spPr>
        <p:txBody>
          <a:bodyPr wrap="square" lIns="0" tIns="0" rIns="0" bIns="0" rtlCol="0" anchor="ctr"/>
          <a:lstStyle/>
          <a:p>
            <a:pPr indent="0" marL="0">
              <a:buNone/>
            </a:pPr>
            <a:r>
              <a:rPr lang="en-US" sz="1300" b="1" dirty="0">
                <a:solidFill>
                  <a:srgbClr val="111827"/>
                </a:solidFill>
              </a:rPr>
              <a:t>Correct</a:t>
            </a:r>
            <a:endParaRPr lang="en-US" sz="1300" dirty="0"/>
          </a:p>
        </p:txBody>
      </p:sp>
      <p:sp>
        <p:nvSpPr>
          <p:cNvPr id="8" name="Text 6"/>
          <p:cNvSpPr/>
          <p:nvPr/>
        </p:nvSpPr>
        <p:spPr>
          <a:xfrm>
            <a:off x="914400" y="2359152"/>
            <a:ext cx="2734056" cy="64008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Obligation is supported and can move forward to requirement and QA mapping.</a:t>
            </a:r>
            <a:endParaRPr lang="en-US" sz="1020" dirty="0"/>
          </a:p>
        </p:txBody>
      </p:sp>
      <p:sp>
        <p:nvSpPr>
          <p:cNvPr id="9" name="Shape 7"/>
          <p:cNvSpPr/>
          <p:nvPr/>
        </p:nvSpPr>
        <p:spPr>
          <a:xfrm>
            <a:off x="4553712" y="1828800"/>
            <a:ext cx="3063240" cy="1325880"/>
          </a:xfrm>
          <a:prstGeom prst="roundRect">
            <a:avLst>
              <a:gd name="adj" fmla="val 5517"/>
            </a:avLst>
          </a:prstGeom>
          <a:solidFill>
            <a:srgbClr val="FFFFFF"/>
          </a:solidFill>
          <a:ln w="12700">
            <a:solidFill>
              <a:srgbClr val="E2E8F0"/>
            </a:solidFill>
            <a:prstDash val="solid"/>
          </a:ln>
        </p:spPr>
      </p:sp>
      <p:sp>
        <p:nvSpPr>
          <p:cNvPr id="10" name="Shape 8"/>
          <p:cNvSpPr/>
          <p:nvPr/>
        </p:nvSpPr>
        <p:spPr>
          <a:xfrm>
            <a:off x="4553712" y="1828800"/>
            <a:ext cx="73152" cy="1325880"/>
          </a:xfrm>
          <a:prstGeom prst="rect">
            <a:avLst/>
          </a:prstGeom>
          <a:solidFill>
            <a:srgbClr val="F59E0B"/>
          </a:solidFill>
          <a:ln w="12700">
            <a:solidFill>
              <a:srgbClr val="333333">
                <a:alpha val="0"/>
              </a:srgbClr>
            </a:solidFill>
            <a:prstDash val="solid"/>
          </a:ln>
        </p:spPr>
      </p:sp>
      <p:sp>
        <p:nvSpPr>
          <p:cNvPr id="11" name="Text 9"/>
          <p:cNvSpPr/>
          <p:nvPr/>
        </p:nvSpPr>
        <p:spPr>
          <a:xfrm>
            <a:off x="4754880" y="1993392"/>
            <a:ext cx="2734056" cy="219456"/>
          </a:xfrm>
          <a:prstGeom prst="rect">
            <a:avLst/>
          </a:prstGeom>
          <a:noFill/>
          <a:ln/>
        </p:spPr>
        <p:txBody>
          <a:bodyPr wrap="square" lIns="0" tIns="0" rIns="0" bIns="0" rtlCol="0" anchor="ctr"/>
          <a:lstStyle/>
          <a:p>
            <a:pPr indent="0" marL="0">
              <a:buNone/>
            </a:pPr>
            <a:r>
              <a:rPr lang="en-US" sz="1300" b="1" dirty="0">
                <a:solidFill>
                  <a:srgbClr val="111827"/>
                </a:solidFill>
              </a:rPr>
              <a:t>Weak</a:t>
            </a:r>
            <a:endParaRPr lang="en-US" sz="1300" dirty="0"/>
          </a:p>
        </p:txBody>
      </p:sp>
      <p:sp>
        <p:nvSpPr>
          <p:cNvPr id="12" name="Text 10"/>
          <p:cNvSpPr/>
          <p:nvPr/>
        </p:nvSpPr>
        <p:spPr>
          <a:xfrm>
            <a:off x="4754880" y="2359152"/>
            <a:ext cx="2734056" cy="64008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Obligation has partial support or ambiguous scope. It can inform questions but not release-ready claims.</a:t>
            </a:r>
            <a:endParaRPr lang="en-US" sz="1020" dirty="0"/>
          </a:p>
        </p:txBody>
      </p:sp>
      <p:sp>
        <p:nvSpPr>
          <p:cNvPr id="13" name="Shape 11"/>
          <p:cNvSpPr/>
          <p:nvPr/>
        </p:nvSpPr>
        <p:spPr>
          <a:xfrm>
            <a:off x="8366760" y="1828800"/>
            <a:ext cx="3063240" cy="1325880"/>
          </a:xfrm>
          <a:prstGeom prst="roundRect">
            <a:avLst>
              <a:gd name="adj" fmla="val 5517"/>
            </a:avLst>
          </a:prstGeom>
          <a:solidFill>
            <a:srgbClr val="FFFFFF"/>
          </a:solidFill>
          <a:ln w="12700">
            <a:solidFill>
              <a:srgbClr val="E2E8F0"/>
            </a:solidFill>
            <a:prstDash val="solid"/>
          </a:ln>
        </p:spPr>
      </p:sp>
      <p:sp>
        <p:nvSpPr>
          <p:cNvPr id="14" name="Shape 12"/>
          <p:cNvSpPr/>
          <p:nvPr/>
        </p:nvSpPr>
        <p:spPr>
          <a:xfrm>
            <a:off x="8366760" y="1828800"/>
            <a:ext cx="73152" cy="1325880"/>
          </a:xfrm>
          <a:prstGeom prst="rect">
            <a:avLst/>
          </a:prstGeom>
          <a:solidFill>
            <a:srgbClr val="EF4444"/>
          </a:solidFill>
          <a:ln w="12700">
            <a:solidFill>
              <a:srgbClr val="333333">
                <a:alpha val="0"/>
              </a:srgbClr>
            </a:solidFill>
            <a:prstDash val="solid"/>
          </a:ln>
        </p:spPr>
      </p:sp>
      <p:sp>
        <p:nvSpPr>
          <p:cNvPr id="15" name="Text 13"/>
          <p:cNvSpPr/>
          <p:nvPr/>
        </p:nvSpPr>
        <p:spPr>
          <a:xfrm>
            <a:off x="8567928" y="1993392"/>
            <a:ext cx="2734056" cy="219456"/>
          </a:xfrm>
          <a:prstGeom prst="rect">
            <a:avLst/>
          </a:prstGeom>
          <a:noFill/>
          <a:ln/>
        </p:spPr>
        <p:txBody>
          <a:bodyPr wrap="square" lIns="0" tIns="0" rIns="0" bIns="0" rtlCol="0" anchor="ctr"/>
          <a:lstStyle/>
          <a:p>
            <a:pPr indent="0" marL="0">
              <a:buNone/>
            </a:pPr>
            <a:r>
              <a:rPr lang="en-US" sz="1300" b="1" dirty="0">
                <a:solidFill>
                  <a:srgbClr val="111827"/>
                </a:solidFill>
              </a:rPr>
              <a:t>Incorrect</a:t>
            </a:r>
            <a:endParaRPr lang="en-US" sz="1300" dirty="0"/>
          </a:p>
        </p:txBody>
      </p:sp>
      <p:sp>
        <p:nvSpPr>
          <p:cNvPr id="16" name="Text 14"/>
          <p:cNvSpPr/>
          <p:nvPr/>
        </p:nvSpPr>
        <p:spPr>
          <a:xfrm>
            <a:off x="8567928" y="2359152"/>
            <a:ext cx="2734056" cy="64008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Obligation is unsupported, overbroad or contradicted. It is blocked from downstream artifacts.</a:t>
            </a:r>
            <a:endParaRPr lang="en-US" sz="1020" dirty="0"/>
          </a:p>
        </p:txBody>
      </p:sp>
      <p:sp>
        <p:nvSpPr>
          <p:cNvPr id="17" name="Text 15"/>
          <p:cNvSpPr/>
          <p:nvPr/>
        </p:nvSpPr>
        <p:spPr>
          <a:xfrm>
            <a:off x="749808" y="3703320"/>
            <a:ext cx="3657600" cy="228600"/>
          </a:xfrm>
          <a:prstGeom prst="rect">
            <a:avLst/>
          </a:prstGeom>
          <a:noFill/>
          <a:ln/>
        </p:spPr>
        <p:txBody>
          <a:bodyPr wrap="square" lIns="0" tIns="0" rIns="0" bIns="0" rtlCol="0" anchor="ctr"/>
          <a:lstStyle/>
          <a:p>
            <a:pPr indent="0" marL="0">
              <a:buNone/>
            </a:pPr>
            <a:r>
              <a:rPr lang="en-US" sz="1500" b="1" dirty="0">
                <a:solidFill>
                  <a:srgbClr val="111827"/>
                </a:solidFill>
              </a:rPr>
              <a:t>Reviewer correction example</a:t>
            </a:r>
            <a:endParaRPr lang="en-US" sz="1500" dirty="0"/>
          </a:p>
        </p:txBody>
      </p:sp>
      <p:sp>
        <p:nvSpPr>
          <p:cNvPr id="18" name="Shape 16"/>
          <p:cNvSpPr/>
          <p:nvPr/>
        </p:nvSpPr>
        <p:spPr>
          <a:xfrm>
            <a:off x="749808" y="4041648"/>
            <a:ext cx="4983480" cy="640080"/>
          </a:xfrm>
          <a:prstGeom prst="roundRect">
            <a:avLst>
              <a:gd name="adj" fmla="val 11429"/>
            </a:avLst>
          </a:prstGeom>
          <a:solidFill>
            <a:srgbClr val="FEFCE8"/>
          </a:solidFill>
          <a:ln w="12700">
            <a:solidFill>
              <a:srgbClr val="FDE68A"/>
            </a:solidFill>
            <a:prstDash val="solid"/>
          </a:ln>
        </p:spPr>
      </p:sp>
      <p:sp>
        <p:nvSpPr>
          <p:cNvPr id="19" name="Text 17"/>
          <p:cNvSpPr/>
          <p:nvPr/>
        </p:nvSpPr>
        <p:spPr>
          <a:xfrm>
            <a:off x="960120" y="4251960"/>
            <a:ext cx="4617720" cy="201168"/>
          </a:xfrm>
          <a:prstGeom prst="rect">
            <a:avLst/>
          </a:prstGeom>
          <a:noFill/>
          <a:ln/>
        </p:spPr>
        <p:txBody>
          <a:bodyPr wrap="square" lIns="0" tIns="0" rIns="0" bIns="0" rtlCol="0" anchor="ctr"/>
          <a:lstStyle/>
          <a:p>
            <a:pPr indent="0" marL="0">
              <a:buNone/>
            </a:pPr>
            <a:r>
              <a:rPr lang="en-US" sz="1080" dirty="0">
                <a:solidFill>
                  <a:srgbClr val="111827"/>
                </a:solidFill>
              </a:rPr>
              <a:t>Before: “The system should validate SAF‑T invoice data before export.”</a:t>
            </a:r>
            <a:endParaRPr lang="en-US" sz="1080" dirty="0"/>
          </a:p>
        </p:txBody>
      </p:sp>
      <p:sp>
        <p:nvSpPr>
          <p:cNvPr id="20" name="Shape 18"/>
          <p:cNvSpPr/>
          <p:nvPr/>
        </p:nvSpPr>
        <p:spPr>
          <a:xfrm>
            <a:off x="6172200" y="4041648"/>
            <a:ext cx="4983480" cy="640080"/>
          </a:xfrm>
          <a:prstGeom prst="roundRect">
            <a:avLst>
              <a:gd name="adj" fmla="val 11429"/>
            </a:avLst>
          </a:prstGeom>
          <a:solidFill>
            <a:srgbClr val="ECFDF5"/>
          </a:solidFill>
          <a:ln w="12700">
            <a:solidFill>
              <a:srgbClr val="A7F3D0"/>
            </a:solidFill>
            <a:prstDash val="solid"/>
          </a:ln>
        </p:spPr>
      </p:sp>
      <p:sp>
        <p:nvSpPr>
          <p:cNvPr id="21" name="Text 19"/>
          <p:cNvSpPr/>
          <p:nvPr/>
        </p:nvSpPr>
        <p:spPr>
          <a:xfrm>
            <a:off x="6382512" y="4251960"/>
            <a:ext cx="4572000" cy="201168"/>
          </a:xfrm>
          <a:prstGeom prst="rect">
            <a:avLst/>
          </a:prstGeom>
          <a:noFill/>
          <a:ln/>
        </p:spPr>
        <p:txBody>
          <a:bodyPr wrap="square" lIns="0" tIns="0" rIns="0" bIns="0" rtlCol="0" anchor="ctr"/>
          <a:lstStyle/>
          <a:p>
            <a:pPr indent="0" marL="0">
              <a:buNone/>
            </a:pPr>
            <a:r>
              <a:rPr lang="en-US" sz="1080" dirty="0">
                <a:solidFill>
                  <a:srgbClr val="111827"/>
                </a:solidFill>
              </a:rPr>
              <a:t>After: fields, failure behavior and evidence report are explicit.</a:t>
            </a:r>
            <a:endParaRPr lang="en-US" sz="1080" dirty="0"/>
          </a:p>
        </p:txBody>
      </p:sp>
      <p:sp>
        <p:nvSpPr>
          <p:cNvPr id="22" name="Shape 20"/>
          <p:cNvSpPr/>
          <p:nvPr/>
        </p:nvSpPr>
        <p:spPr>
          <a:xfrm>
            <a:off x="5742432" y="4361688"/>
            <a:ext cx="420624" cy="0"/>
          </a:xfrm>
          <a:prstGeom prst="line">
            <a:avLst/>
          </a:prstGeom>
          <a:noFill/>
          <a:ln w="17780">
            <a:solidFill>
              <a:srgbClr val="475569"/>
            </a:solidFill>
            <a:prstDash val="solid"/>
            <a:headEnd type="none"/>
            <a:tailEnd type="triangle"/>
          </a:ln>
        </p:spPr>
      </p:sp>
      <p:sp>
        <p:nvSpPr>
          <p:cNvPr id="23" name="Shape 21"/>
          <p:cNvSpPr/>
          <p:nvPr/>
        </p:nvSpPr>
        <p:spPr>
          <a:xfrm>
            <a:off x="594360" y="6446520"/>
            <a:ext cx="10972800" cy="0"/>
          </a:xfrm>
          <a:prstGeom prst="line">
            <a:avLst/>
          </a:prstGeom>
          <a:noFill/>
          <a:ln w="6350">
            <a:solidFill>
              <a:srgbClr val="CBD5E1"/>
            </a:solidFill>
            <a:prstDash val="solid"/>
          </a:ln>
        </p:spPr>
      </p:sp>
      <p:sp>
        <p:nvSpPr>
          <p:cNvPr id="24" name="Text 22"/>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25" name="Text 23"/>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EVALUATION</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Quality gates make the workflow harder to fake</a:t>
            </a:r>
            <a:endParaRPr lang="en-US" sz="2800" dirty="0"/>
          </a:p>
        </p:txBody>
      </p:sp>
      <p:sp>
        <p:nvSpPr>
          <p:cNvPr id="4" name="Text 2"/>
          <p:cNvSpPr/>
          <p:nvPr/>
        </p:nvSpPr>
        <p:spPr>
          <a:xfrm>
            <a:off x="612648" y="1325880"/>
            <a:ext cx="9326880" cy="274320"/>
          </a:xfrm>
          <a:prstGeom prst="rect">
            <a:avLst/>
          </a:prstGeom>
          <a:noFill/>
          <a:ln/>
        </p:spPr>
        <p:txBody>
          <a:bodyPr wrap="square" lIns="0" tIns="0" rIns="0" bIns="0" rtlCol="0" anchor="ctr"/>
          <a:lstStyle/>
          <a:p>
            <a:pPr indent="0" marL="0">
              <a:buNone/>
            </a:pPr>
            <a:r>
              <a:rPr lang="en-US" sz="1500" dirty="0">
                <a:solidFill>
                  <a:srgbClr val="475569"/>
                </a:solidFill>
              </a:rPr>
              <a:t>The point is not to show a perfect model. The point is to show product-grade evaluation discipline.</a:t>
            </a:r>
            <a:endParaRPr lang="en-US" sz="1500" dirty="0"/>
          </a:p>
        </p:txBody>
      </p:sp>
      <p:sp>
        <p:nvSpPr>
          <p:cNvPr id="5" name="Text 3"/>
          <p:cNvSpPr/>
          <p:nvPr/>
        </p:nvSpPr>
        <p:spPr>
          <a:xfrm>
            <a:off x="731520" y="1874520"/>
            <a:ext cx="2926080" cy="219456"/>
          </a:xfrm>
          <a:prstGeom prst="rect">
            <a:avLst/>
          </a:prstGeom>
          <a:noFill/>
          <a:ln/>
        </p:spPr>
        <p:txBody>
          <a:bodyPr wrap="square" lIns="0" tIns="0" rIns="0" bIns="0" rtlCol="0" anchor="ctr"/>
          <a:lstStyle/>
          <a:p>
            <a:pPr indent="0" marL="0">
              <a:buNone/>
            </a:pPr>
            <a:r>
              <a:rPr lang="en-US" sz="1300" b="1" dirty="0">
                <a:solidFill>
                  <a:srgbClr val="111827"/>
                </a:solidFill>
              </a:rPr>
              <a:t>Citation support</a:t>
            </a:r>
            <a:endParaRPr lang="en-US" sz="1300" dirty="0"/>
          </a:p>
        </p:txBody>
      </p:sp>
      <p:sp>
        <p:nvSpPr>
          <p:cNvPr id="6" name="Text 4"/>
          <p:cNvSpPr/>
          <p:nvPr/>
        </p:nvSpPr>
        <p:spPr>
          <a:xfrm>
            <a:off x="3657600" y="1874520"/>
            <a:ext cx="6766560" cy="219456"/>
          </a:xfrm>
          <a:prstGeom prst="rect">
            <a:avLst/>
          </a:prstGeom>
          <a:noFill/>
          <a:ln/>
        </p:spPr>
        <p:txBody>
          <a:bodyPr wrap="square" lIns="0" tIns="0" rIns="0" bIns="0" rtlCol="0" anchor="ctr"/>
          <a:lstStyle/>
          <a:p>
            <a:pPr indent="0" marL="0">
              <a:buNone/>
            </a:pPr>
            <a:r>
              <a:rPr lang="en-US" sz="1200" dirty="0">
                <a:solidFill>
                  <a:srgbClr val="475569"/>
                </a:solidFill>
              </a:rPr>
              <a:t>Token, n-gram, sequence and mismatch checks</a:t>
            </a:r>
            <a:endParaRPr lang="en-US" sz="1200" dirty="0"/>
          </a:p>
        </p:txBody>
      </p:sp>
      <p:sp>
        <p:nvSpPr>
          <p:cNvPr id="7" name="Shape 5"/>
          <p:cNvSpPr/>
          <p:nvPr/>
        </p:nvSpPr>
        <p:spPr>
          <a:xfrm>
            <a:off x="731520" y="2240280"/>
            <a:ext cx="9784080" cy="0"/>
          </a:xfrm>
          <a:prstGeom prst="line">
            <a:avLst/>
          </a:prstGeom>
          <a:noFill/>
          <a:ln w="7620">
            <a:solidFill>
              <a:srgbClr val="E2E8F0"/>
            </a:solidFill>
            <a:prstDash val="solid"/>
          </a:ln>
        </p:spPr>
      </p:sp>
      <p:sp>
        <p:nvSpPr>
          <p:cNvPr id="8" name="Text 6"/>
          <p:cNvSpPr/>
          <p:nvPr/>
        </p:nvSpPr>
        <p:spPr>
          <a:xfrm>
            <a:off x="731520" y="2514600"/>
            <a:ext cx="2926080" cy="219456"/>
          </a:xfrm>
          <a:prstGeom prst="rect">
            <a:avLst/>
          </a:prstGeom>
          <a:noFill/>
          <a:ln/>
        </p:spPr>
        <p:txBody>
          <a:bodyPr wrap="square" lIns="0" tIns="0" rIns="0" bIns="0" rtlCol="0" anchor="ctr"/>
          <a:lstStyle/>
          <a:p>
            <a:pPr indent="0" marL="0">
              <a:buNone/>
            </a:pPr>
            <a:r>
              <a:rPr lang="en-US" sz="1300" b="1" dirty="0">
                <a:solidFill>
                  <a:srgbClr val="111827"/>
                </a:solidFill>
              </a:rPr>
              <a:t>Negative test gate</a:t>
            </a:r>
            <a:endParaRPr lang="en-US" sz="1300" dirty="0"/>
          </a:p>
        </p:txBody>
      </p:sp>
      <p:sp>
        <p:nvSpPr>
          <p:cNvPr id="9" name="Text 7"/>
          <p:cNvSpPr/>
          <p:nvPr/>
        </p:nvSpPr>
        <p:spPr>
          <a:xfrm>
            <a:off x="3657600" y="2514600"/>
            <a:ext cx="6766560" cy="219456"/>
          </a:xfrm>
          <a:prstGeom prst="rect">
            <a:avLst/>
          </a:prstGeom>
          <a:noFill/>
          <a:ln/>
        </p:spPr>
        <p:txBody>
          <a:bodyPr wrap="square" lIns="0" tIns="0" rIns="0" bIns="0" rtlCol="0" anchor="ctr"/>
          <a:lstStyle/>
          <a:p>
            <a:pPr indent="0" marL="0">
              <a:buNone/>
            </a:pPr>
            <a:r>
              <a:rPr lang="en-US" sz="1200" dirty="0">
                <a:solidFill>
                  <a:srgbClr val="475569"/>
                </a:solidFill>
              </a:rPr>
              <a:t>Every released obligation requires a failure-mode test</a:t>
            </a:r>
            <a:endParaRPr lang="en-US" sz="1200" dirty="0"/>
          </a:p>
        </p:txBody>
      </p:sp>
      <p:sp>
        <p:nvSpPr>
          <p:cNvPr id="10" name="Shape 8"/>
          <p:cNvSpPr/>
          <p:nvPr/>
        </p:nvSpPr>
        <p:spPr>
          <a:xfrm>
            <a:off x="731520" y="2880360"/>
            <a:ext cx="9784080" cy="0"/>
          </a:xfrm>
          <a:prstGeom prst="line">
            <a:avLst/>
          </a:prstGeom>
          <a:noFill/>
          <a:ln w="7620">
            <a:solidFill>
              <a:srgbClr val="E2E8F0"/>
            </a:solidFill>
            <a:prstDash val="solid"/>
          </a:ln>
        </p:spPr>
      </p:sp>
      <p:sp>
        <p:nvSpPr>
          <p:cNvPr id="11" name="Text 9"/>
          <p:cNvSpPr/>
          <p:nvPr/>
        </p:nvSpPr>
        <p:spPr>
          <a:xfrm>
            <a:off x="731520" y="3154680"/>
            <a:ext cx="2926080" cy="219456"/>
          </a:xfrm>
          <a:prstGeom prst="rect">
            <a:avLst/>
          </a:prstGeom>
          <a:noFill/>
          <a:ln/>
        </p:spPr>
        <p:txBody>
          <a:bodyPr wrap="square" lIns="0" tIns="0" rIns="0" bIns="0" rtlCol="0" anchor="ctr"/>
          <a:lstStyle/>
          <a:p>
            <a:pPr indent="0" marL="0">
              <a:buNone/>
            </a:pPr>
            <a:r>
              <a:rPr lang="en-US" sz="1300" b="1" dirty="0">
                <a:solidFill>
                  <a:srgbClr val="111827"/>
                </a:solidFill>
              </a:rPr>
              <a:t>Claim hygiene</a:t>
            </a:r>
            <a:endParaRPr lang="en-US" sz="1300" dirty="0"/>
          </a:p>
        </p:txBody>
      </p:sp>
      <p:sp>
        <p:nvSpPr>
          <p:cNvPr id="12" name="Text 10"/>
          <p:cNvSpPr/>
          <p:nvPr/>
        </p:nvSpPr>
        <p:spPr>
          <a:xfrm>
            <a:off x="3657600" y="3154680"/>
            <a:ext cx="6766560" cy="219456"/>
          </a:xfrm>
          <a:prstGeom prst="rect">
            <a:avLst/>
          </a:prstGeom>
          <a:noFill/>
          <a:ln/>
        </p:spPr>
        <p:txBody>
          <a:bodyPr wrap="square" lIns="0" tIns="0" rIns="0" bIns="0" rtlCol="0" anchor="ctr"/>
          <a:lstStyle/>
          <a:p>
            <a:pPr indent="0" marL="0">
              <a:buNone/>
            </a:pPr>
            <a:r>
              <a:rPr lang="en-US" sz="1200" dirty="0">
                <a:solidFill>
                  <a:srgbClr val="475569"/>
                </a:solidFill>
              </a:rPr>
              <a:t>Risky release statements are flagged and rewritten</a:t>
            </a:r>
            <a:endParaRPr lang="en-US" sz="1200" dirty="0"/>
          </a:p>
        </p:txBody>
      </p:sp>
      <p:sp>
        <p:nvSpPr>
          <p:cNvPr id="13" name="Shape 11"/>
          <p:cNvSpPr/>
          <p:nvPr/>
        </p:nvSpPr>
        <p:spPr>
          <a:xfrm>
            <a:off x="731520" y="3520440"/>
            <a:ext cx="9784080" cy="0"/>
          </a:xfrm>
          <a:prstGeom prst="line">
            <a:avLst/>
          </a:prstGeom>
          <a:noFill/>
          <a:ln w="7620">
            <a:solidFill>
              <a:srgbClr val="E2E8F0"/>
            </a:solidFill>
            <a:prstDash val="solid"/>
          </a:ln>
        </p:spPr>
      </p:sp>
      <p:sp>
        <p:nvSpPr>
          <p:cNvPr id="14" name="Text 12"/>
          <p:cNvSpPr/>
          <p:nvPr/>
        </p:nvSpPr>
        <p:spPr>
          <a:xfrm>
            <a:off x="731520" y="3794760"/>
            <a:ext cx="2926080" cy="219456"/>
          </a:xfrm>
          <a:prstGeom prst="rect">
            <a:avLst/>
          </a:prstGeom>
          <a:noFill/>
          <a:ln/>
        </p:spPr>
        <p:txBody>
          <a:bodyPr wrap="square" lIns="0" tIns="0" rIns="0" bIns="0" rtlCol="0" anchor="ctr"/>
          <a:lstStyle/>
          <a:p>
            <a:pPr indent="0" marL="0">
              <a:buNone/>
            </a:pPr>
            <a:r>
              <a:rPr lang="en-US" sz="1300" b="1" dirty="0">
                <a:solidFill>
                  <a:srgbClr val="111827"/>
                </a:solidFill>
              </a:rPr>
              <a:t>Run history</a:t>
            </a:r>
            <a:endParaRPr lang="en-US" sz="1300" dirty="0"/>
          </a:p>
        </p:txBody>
      </p:sp>
      <p:sp>
        <p:nvSpPr>
          <p:cNvPr id="15" name="Text 13"/>
          <p:cNvSpPr/>
          <p:nvPr/>
        </p:nvSpPr>
        <p:spPr>
          <a:xfrm>
            <a:off x="3657600" y="3794760"/>
            <a:ext cx="6766560" cy="219456"/>
          </a:xfrm>
          <a:prstGeom prst="rect">
            <a:avLst/>
          </a:prstGeom>
          <a:noFill/>
          <a:ln/>
        </p:spPr>
        <p:txBody>
          <a:bodyPr wrap="square" lIns="0" tIns="0" rIns="0" bIns="0" rtlCol="0" anchor="ctr"/>
          <a:lstStyle/>
          <a:p>
            <a:pPr indent="0" marL="0">
              <a:buNone/>
            </a:pPr>
            <a:r>
              <a:rPr lang="en-US" sz="1200" dirty="0">
                <a:solidFill>
                  <a:srgbClr val="475569"/>
                </a:solidFill>
              </a:rPr>
              <a:t>Usage metrics and reviewer corrections persist locally</a:t>
            </a:r>
            <a:endParaRPr lang="en-US" sz="1200" dirty="0"/>
          </a:p>
        </p:txBody>
      </p:sp>
      <p:sp>
        <p:nvSpPr>
          <p:cNvPr id="16" name="Shape 14"/>
          <p:cNvSpPr/>
          <p:nvPr/>
        </p:nvSpPr>
        <p:spPr>
          <a:xfrm>
            <a:off x="731520" y="4160520"/>
            <a:ext cx="9784080" cy="0"/>
          </a:xfrm>
          <a:prstGeom prst="line">
            <a:avLst/>
          </a:prstGeom>
          <a:noFill/>
          <a:ln w="7620">
            <a:solidFill>
              <a:srgbClr val="E2E8F0"/>
            </a:solidFill>
            <a:prstDash val="solid"/>
          </a:ln>
        </p:spPr>
      </p:sp>
      <p:sp>
        <p:nvSpPr>
          <p:cNvPr id="17" name="Text 15"/>
          <p:cNvSpPr/>
          <p:nvPr/>
        </p:nvSpPr>
        <p:spPr>
          <a:xfrm>
            <a:off x="731520" y="4434840"/>
            <a:ext cx="2926080" cy="219456"/>
          </a:xfrm>
          <a:prstGeom prst="rect">
            <a:avLst/>
          </a:prstGeom>
          <a:noFill/>
          <a:ln/>
        </p:spPr>
        <p:txBody>
          <a:bodyPr wrap="square" lIns="0" tIns="0" rIns="0" bIns="0" rtlCol="0" anchor="ctr"/>
          <a:lstStyle/>
          <a:p>
            <a:pPr indent="0" marL="0">
              <a:buNone/>
            </a:pPr>
            <a:r>
              <a:rPr lang="en-US" sz="1300" b="1" dirty="0">
                <a:solidFill>
                  <a:srgbClr val="111827"/>
                </a:solidFill>
              </a:rPr>
              <a:t>Real vs simulated</a:t>
            </a:r>
            <a:endParaRPr lang="en-US" sz="1300" dirty="0"/>
          </a:p>
        </p:txBody>
      </p:sp>
      <p:sp>
        <p:nvSpPr>
          <p:cNvPr id="18" name="Text 16"/>
          <p:cNvSpPr/>
          <p:nvPr/>
        </p:nvSpPr>
        <p:spPr>
          <a:xfrm>
            <a:off x="3657600" y="4434840"/>
            <a:ext cx="6766560" cy="219456"/>
          </a:xfrm>
          <a:prstGeom prst="rect">
            <a:avLst/>
          </a:prstGeom>
          <a:noFill/>
          <a:ln/>
        </p:spPr>
        <p:txBody>
          <a:bodyPr wrap="square" lIns="0" tIns="0" rIns="0" bIns="0" rtlCol="0" anchor="ctr"/>
          <a:lstStyle/>
          <a:p>
            <a:pPr indent="0" marL="0">
              <a:buNone/>
            </a:pPr>
            <a:r>
              <a:rPr lang="en-US" sz="1200" dirty="0">
                <a:solidFill>
                  <a:srgbClr val="475569"/>
                </a:solidFill>
              </a:rPr>
              <a:t>Portfolio controls are separated from production claims</a:t>
            </a:r>
            <a:endParaRPr lang="en-US" sz="1200" dirty="0"/>
          </a:p>
        </p:txBody>
      </p:sp>
      <p:sp>
        <p:nvSpPr>
          <p:cNvPr id="19" name="Shape 17"/>
          <p:cNvSpPr/>
          <p:nvPr/>
        </p:nvSpPr>
        <p:spPr>
          <a:xfrm>
            <a:off x="731520" y="4800600"/>
            <a:ext cx="9784080" cy="0"/>
          </a:xfrm>
          <a:prstGeom prst="line">
            <a:avLst/>
          </a:prstGeom>
          <a:noFill/>
          <a:ln w="7620">
            <a:solidFill>
              <a:srgbClr val="E2E8F0"/>
            </a:solidFill>
            <a:prstDash val="solid"/>
          </a:ln>
        </p:spPr>
      </p:sp>
      <p:sp>
        <p:nvSpPr>
          <p:cNvPr id="20" name="Shape 18"/>
          <p:cNvSpPr/>
          <p:nvPr/>
        </p:nvSpPr>
        <p:spPr>
          <a:xfrm>
            <a:off x="731520" y="5349240"/>
            <a:ext cx="10058400" cy="566928"/>
          </a:xfrm>
          <a:prstGeom prst="roundRect">
            <a:avLst>
              <a:gd name="adj" fmla="val 12903"/>
            </a:avLst>
          </a:prstGeom>
          <a:solidFill>
            <a:srgbClr val="EFF6FF"/>
          </a:solidFill>
          <a:ln w="12700">
            <a:solidFill>
              <a:srgbClr val="BFDBFE"/>
            </a:solidFill>
            <a:prstDash val="solid"/>
          </a:ln>
        </p:spPr>
      </p:sp>
      <p:sp>
        <p:nvSpPr>
          <p:cNvPr id="21" name="Text 19"/>
          <p:cNvSpPr/>
          <p:nvPr/>
        </p:nvSpPr>
        <p:spPr>
          <a:xfrm>
            <a:off x="987552" y="5559552"/>
            <a:ext cx="9509760" cy="164592"/>
          </a:xfrm>
          <a:prstGeom prst="rect">
            <a:avLst/>
          </a:prstGeom>
          <a:noFill/>
          <a:ln/>
        </p:spPr>
        <p:txBody>
          <a:bodyPr wrap="square" lIns="0" tIns="0" rIns="0" bIns="0" rtlCol="0" anchor="ctr"/>
          <a:lstStyle/>
          <a:p>
            <a:pPr indent="0" marL="0">
              <a:buNone/>
            </a:pPr>
            <a:r>
              <a:rPr lang="en-US" sz="1220" b="1" dirty="0">
                <a:solidFill>
                  <a:srgbClr val="2563EB"/>
                </a:solidFill>
              </a:rPr>
              <a:t>Hiring signal: I know where AI accelerates product work and where governance must slow it down.</a:t>
            </a:r>
            <a:endParaRPr lang="en-US" sz="1220" dirty="0"/>
          </a:p>
        </p:txBody>
      </p:sp>
      <p:sp>
        <p:nvSpPr>
          <p:cNvPr id="22" name="Shape 20"/>
          <p:cNvSpPr/>
          <p:nvPr/>
        </p:nvSpPr>
        <p:spPr>
          <a:xfrm>
            <a:off x="594360" y="6446520"/>
            <a:ext cx="10972800" cy="0"/>
          </a:xfrm>
          <a:prstGeom prst="line">
            <a:avLst/>
          </a:prstGeom>
          <a:noFill/>
          <a:ln w="6350">
            <a:solidFill>
              <a:srgbClr val="CBD5E1"/>
            </a:solidFill>
            <a:prstDash val="solid"/>
          </a:ln>
        </p:spPr>
      </p:sp>
      <p:sp>
        <p:nvSpPr>
          <p:cNvPr id="23" name="Text 21"/>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24" name="Text 22"/>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UX PACKAGING</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README + app should be instantly legible</a:t>
            </a:r>
            <a:endParaRPr lang="en-US" sz="2800" dirty="0"/>
          </a:p>
        </p:txBody>
      </p:sp>
      <p:sp>
        <p:nvSpPr>
          <p:cNvPr id="4" name="Text 2"/>
          <p:cNvSpPr/>
          <p:nvPr/>
        </p:nvSpPr>
        <p:spPr>
          <a:xfrm>
            <a:off x="612648" y="1325880"/>
            <a:ext cx="9144000" cy="274320"/>
          </a:xfrm>
          <a:prstGeom prst="rect">
            <a:avLst/>
          </a:prstGeom>
          <a:noFill/>
          <a:ln/>
        </p:spPr>
        <p:txBody>
          <a:bodyPr wrap="square" lIns="0" tIns="0" rIns="0" bIns="0" rtlCol="0" anchor="ctr"/>
          <a:lstStyle/>
          <a:p>
            <a:pPr indent="0" marL="0">
              <a:buNone/>
            </a:pPr>
            <a:r>
              <a:rPr lang="en-US" sz="1500" dirty="0">
                <a:solidFill>
                  <a:srgbClr val="475569"/>
                </a:solidFill>
              </a:rPr>
              <a:t>The next improvement is not more depth. It is making the value obvious in the first click.</a:t>
            </a:r>
            <a:endParaRPr lang="en-US" sz="1500" dirty="0"/>
          </a:p>
        </p:txBody>
      </p:sp>
      <p:sp>
        <p:nvSpPr>
          <p:cNvPr id="5" name="Shape 3"/>
          <p:cNvSpPr/>
          <p:nvPr/>
        </p:nvSpPr>
        <p:spPr>
          <a:xfrm>
            <a:off x="731520" y="1828800"/>
            <a:ext cx="3383280" cy="1508760"/>
          </a:xfrm>
          <a:prstGeom prst="roundRect">
            <a:avLst>
              <a:gd name="adj" fmla="val 4848"/>
            </a:avLst>
          </a:prstGeom>
          <a:solidFill>
            <a:srgbClr val="FFFFFF"/>
          </a:solidFill>
          <a:ln w="12700">
            <a:solidFill>
              <a:srgbClr val="E2E8F0"/>
            </a:solidFill>
            <a:prstDash val="solid"/>
          </a:ln>
        </p:spPr>
      </p:sp>
      <p:sp>
        <p:nvSpPr>
          <p:cNvPr id="6" name="Shape 4"/>
          <p:cNvSpPr/>
          <p:nvPr/>
        </p:nvSpPr>
        <p:spPr>
          <a:xfrm>
            <a:off x="731520" y="1828800"/>
            <a:ext cx="73152" cy="1508760"/>
          </a:xfrm>
          <a:prstGeom prst="rect">
            <a:avLst/>
          </a:prstGeom>
          <a:solidFill>
            <a:srgbClr val="2563EB"/>
          </a:solidFill>
          <a:ln w="12700">
            <a:solidFill>
              <a:srgbClr val="333333">
                <a:alpha val="0"/>
              </a:srgbClr>
            </a:solidFill>
            <a:prstDash val="solid"/>
          </a:ln>
        </p:spPr>
      </p:sp>
      <p:sp>
        <p:nvSpPr>
          <p:cNvPr id="7" name="Text 5"/>
          <p:cNvSpPr/>
          <p:nvPr/>
        </p:nvSpPr>
        <p:spPr>
          <a:xfrm>
            <a:off x="932688" y="1993392"/>
            <a:ext cx="3054096" cy="219456"/>
          </a:xfrm>
          <a:prstGeom prst="rect">
            <a:avLst/>
          </a:prstGeom>
          <a:noFill/>
          <a:ln/>
        </p:spPr>
        <p:txBody>
          <a:bodyPr wrap="square" lIns="0" tIns="0" rIns="0" bIns="0" rtlCol="0" anchor="ctr"/>
          <a:lstStyle/>
          <a:p>
            <a:pPr indent="0" marL="0">
              <a:buNone/>
            </a:pPr>
            <a:r>
              <a:rPr lang="en-US" sz="1300" b="1" dirty="0">
                <a:solidFill>
                  <a:srgbClr val="111827"/>
                </a:solidFill>
              </a:rPr>
              <a:t>Start Here — Hero Demo</a:t>
            </a:r>
            <a:endParaRPr lang="en-US" sz="1300" dirty="0"/>
          </a:p>
        </p:txBody>
      </p:sp>
      <p:sp>
        <p:nvSpPr>
          <p:cNvPr id="8" name="Text 6"/>
          <p:cNvSpPr/>
          <p:nvPr/>
        </p:nvSpPr>
        <p:spPr>
          <a:xfrm>
            <a:off x="932688" y="2359152"/>
            <a:ext cx="3054096" cy="8229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One route that guides reviewers through the hero case in 60–90 seconds.</a:t>
            </a:r>
            <a:endParaRPr lang="en-US" sz="1020" dirty="0"/>
          </a:p>
        </p:txBody>
      </p:sp>
      <p:sp>
        <p:nvSpPr>
          <p:cNvPr id="9" name="Shape 7"/>
          <p:cNvSpPr/>
          <p:nvPr/>
        </p:nvSpPr>
        <p:spPr>
          <a:xfrm>
            <a:off x="4434840" y="1828800"/>
            <a:ext cx="3383280" cy="1508760"/>
          </a:xfrm>
          <a:prstGeom prst="roundRect">
            <a:avLst>
              <a:gd name="adj" fmla="val 4848"/>
            </a:avLst>
          </a:prstGeom>
          <a:solidFill>
            <a:srgbClr val="FFFFFF"/>
          </a:solidFill>
          <a:ln w="12700">
            <a:solidFill>
              <a:srgbClr val="E2E8F0"/>
            </a:solidFill>
            <a:prstDash val="solid"/>
          </a:ln>
        </p:spPr>
      </p:sp>
      <p:sp>
        <p:nvSpPr>
          <p:cNvPr id="10" name="Shape 8"/>
          <p:cNvSpPr/>
          <p:nvPr/>
        </p:nvSpPr>
        <p:spPr>
          <a:xfrm>
            <a:off x="4434840" y="1828800"/>
            <a:ext cx="73152" cy="1508760"/>
          </a:xfrm>
          <a:prstGeom prst="rect">
            <a:avLst/>
          </a:prstGeom>
          <a:solidFill>
            <a:srgbClr val="10B981"/>
          </a:solidFill>
          <a:ln w="12700">
            <a:solidFill>
              <a:srgbClr val="333333">
                <a:alpha val="0"/>
              </a:srgbClr>
            </a:solidFill>
            <a:prstDash val="solid"/>
          </a:ln>
        </p:spPr>
      </p:sp>
      <p:sp>
        <p:nvSpPr>
          <p:cNvPr id="11" name="Text 9"/>
          <p:cNvSpPr/>
          <p:nvPr/>
        </p:nvSpPr>
        <p:spPr>
          <a:xfrm>
            <a:off x="4636008" y="1993392"/>
            <a:ext cx="3054096" cy="219456"/>
          </a:xfrm>
          <a:prstGeom prst="rect">
            <a:avLst/>
          </a:prstGeom>
          <a:noFill/>
          <a:ln/>
        </p:spPr>
        <p:txBody>
          <a:bodyPr wrap="square" lIns="0" tIns="0" rIns="0" bIns="0" rtlCol="0" anchor="ctr"/>
          <a:lstStyle/>
          <a:p>
            <a:pPr indent="0" marL="0">
              <a:buNone/>
            </a:pPr>
            <a:r>
              <a:rPr lang="en-US" sz="1300" b="1" dirty="0">
                <a:solidFill>
                  <a:srgbClr val="111827"/>
                </a:solidFill>
              </a:rPr>
              <a:t>3 screenshots in README</a:t>
            </a:r>
            <a:endParaRPr lang="en-US" sz="1300" dirty="0"/>
          </a:p>
        </p:txBody>
      </p:sp>
      <p:sp>
        <p:nvSpPr>
          <p:cNvPr id="12" name="Text 10"/>
          <p:cNvSpPr/>
          <p:nvPr/>
        </p:nvSpPr>
        <p:spPr>
          <a:xfrm>
            <a:off x="4636008" y="2359152"/>
            <a:ext cx="3054096" cy="8229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Hero demo, main output, QA/release/audit evidence.</a:t>
            </a:r>
            <a:endParaRPr lang="en-US" sz="1020" dirty="0"/>
          </a:p>
        </p:txBody>
      </p:sp>
      <p:sp>
        <p:nvSpPr>
          <p:cNvPr id="13" name="Shape 11"/>
          <p:cNvSpPr/>
          <p:nvPr/>
        </p:nvSpPr>
        <p:spPr>
          <a:xfrm>
            <a:off x="8138160" y="1828800"/>
            <a:ext cx="3383280" cy="1508760"/>
          </a:xfrm>
          <a:prstGeom prst="roundRect">
            <a:avLst>
              <a:gd name="adj" fmla="val 4848"/>
            </a:avLst>
          </a:prstGeom>
          <a:solidFill>
            <a:srgbClr val="FFFFFF"/>
          </a:solidFill>
          <a:ln w="12700">
            <a:solidFill>
              <a:srgbClr val="E2E8F0"/>
            </a:solidFill>
            <a:prstDash val="solid"/>
          </a:ln>
        </p:spPr>
      </p:sp>
      <p:sp>
        <p:nvSpPr>
          <p:cNvPr id="14" name="Shape 12"/>
          <p:cNvSpPr/>
          <p:nvPr/>
        </p:nvSpPr>
        <p:spPr>
          <a:xfrm>
            <a:off x="8138160" y="1828800"/>
            <a:ext cx="73152" cy="1508760"/>
          </a:xfrm>
          <a:prstGeom prst="rect">
            <a:avLst/>
          </a:prstGeom>
          <a:solidFill>
            <a:srgbClr val="7C3AED"/>
          </a:solidFill>
          <a:ln w="12700">
            <a:solidFill>
              <a:srgbClr val="333333">
                <a:alpha val="0"/>
              </a:srgbClr>
            </a:solidFill>
            <a:prstDash val="solid"/>
          </a:ln>
        </p:spPr>
      </p:sp>
      <p:sp>
        <p:nvSpPr>
          <p:cNvPr id="15" name="Text 13"/>
          <p:cNvSpPr/>
          <p:nvPr/>
        </p:nvSpPr>
        <p:spPr>
          <a:xfrm>
            <a:off x="8339328" y="1993392"/>
            <a:ext cx="3054096" cy="219456"/>
          </a:xfrm>
          <a:prstGeom prst="rect">
            <a:avLst/>
          </a:prstGeom>
          <a:noFill/>
          <a:ln/>
        </p:spPr>
        <p:txBody>
          <a:bodyPr wrap="square" lIns="0" tIns="0" rIns="0" bIns="0" rtlCol="0" anchor="ctr"/>
          <a:lstStyle/>
          <a:p>
            <a:pPr indent="0" marL="0">
              <a:buNone/>
            </a:pPr>
            <a:r>
              <a:rPr lang="en-US" sz="1300" b="1" dirty="0">
                <a:solidFill>
                  <a:srgbClr val="111827"/>
                </a:solidFill>
              </a:rPr>
              <a:t>60-second script</a:t>
            </a:r>
            <a:endParaRPr lang="en-US" sz="1300" dirty="0"/>
          </a:p>
        </p:txBody>
      </p:sp>
      <p:sp>
        <p:nvSpPr>
          <p:cNvPr id="16" name="Text 14"/>
          <p:cNvSpPr/>
          <p:nvPr/>
        </p:nvSpPr>
        <p:spPr>
          <a:xfrm>
            <a:off x="8339328" y="2359152"/>
            <a:ext cx="3054096" cy="82296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A crisp walkthrough for recruiters, PMs and hiring managers.</a:t>
            </a:r>
            <a:endParaRPr lang="en-US" sz="1020" dirty="0"/>
          </a:p>
        </p:txBody>
      </p:sp>
      <p:sp>
        <p:nvSpPr>
          <p:cNvPr id="17" name="Text 15"/>
          <p:cNvSpPr/>
          <p:nvPr/>
        </p:nvSpPr>
        <p:spPr>
          <a:xfrm>
            <a:off x="777240" y="3931920"/>
            <a:ext cx="2194560" cy="228600"/>
          </a:xfrm>
          <a:prstGeom prst="rect">
            <a:avLst/>
          </a:prstGeom>
          <a:noFill/>
          <a:ln/>
        </p:spPr>
        <p:txBody>
          <a:bodyPr wrap="square" lIns="0" tIns="0" rIns="0" bIns="0" rtlCol="0" anchor="ctr"/>
          <a:lstStyle/>
          <a:p>
            <a:pPr indent="0" marL="0">
              <a:buNone/>
            </a:pPr>
            <a:r>
              <a:rPr lang="en-US" sz="1400" b="1" dirty="0">
                <a:solidFill>
                  <a:srgbClr val="111827"/>
                </a:solidFill>
              </a:rPr>
              <a:t>Hero path</a:t>
            </a:r>
            <a:endParaRPr lang="en-US" sz="1400" dirty="0"/>
          </a:p>
        </p:txBody>
      </p:sp>
      <p:sp>
        <p:nvSpPr>
          <p:cNvPr id="18" name="Shape 16"/>
          <p:cNvSpPr/>
          <p:nvPr/>
        </p:nvSpPr>
        <p:spPr>
          <a:xfrm>
            <a:off x="777240" y="4389120"/>
            <a:ext cx="1920240" cy="676656"/>
          </a:xfrm>
          <a:prstGeom prst="roundRect">
            <a:avLst>
              <a:gd name="adj" fmla="val 16216"/>
            </a:avLst>
          </a:prstGeom>
          <a:solidFill>
            <a:srgbClr val="FFFFFF"/>
          </a:solidFill>
          <a:ln w="12700">
            <a:solidFill>
              <a:srgbClr val="E2E8F0"/>
            </a:solidFill>
            <a:prstDash val="solid"/>
          </a:ln>
        </p:spPr>
      </p:sp>
      <p:sp>
        <p:nvSpPr>
          <p:cNvPr id="19" name="Shape 17"/>
          <p:cNvSpPr/>
          <p:nvPr/>
        </p:nvSpPr>
        <p:spPr>
          <a:xfrm>
            <a:off x="886968" y="4553712"/>
            <a:ext cx="310896" cy="310896"/>
          </a:xfrm>
          <a:prstGeom prst="ellipse">
            <a:avLst/>
          </a:prstGeom>
          <a:solidFill>
            <a:srgbClr val="2563EB"/>
          </a:solidFill>
          <a:ln w="12700">
            <a:solidFill>
              <a:srgbClr val="333333">
                <a:alpha val="0"/>
              </a:srgbClr>
            </a:solidFill>
            <a:prstDash val="solid"/>
          </a:ln>
        </p:spPr>
      </p:sp>
      <p:sp>
        <p:nvSpPr>
          <p:cNvPr id="20" name="Text 18"/>
          <p:cNvSpPr/>
          <p:nvPr/>
        </p:nvSpPr>
        <p:spPr>
          <a:xfrm>
            <a:off x="886968" y="464515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1</a:t>
            </a:r>
            <a:endParaRPr lang="en-US" sz="680" dirty="0"/>
          </a:p>
        </p:txBody>
      </p:sp>
      <p:sp>
        <p:nvSpPr>
          <p:cNvPr id="21" name="Text 19"/>
          <p:cNvSpPr/>
          <p:nvPr/>
        </p:nvSpPr>
        <p:spPr>
          <a:xfrm>
            <a:off x="1280160" y="4572000"/>
            <a:ext cx="129844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Open demo</a:t>
            </a:r>
            <a:endParaRPr lang="en-US" sz="1050" dirty="0"/>
          </a:p>
        </p:txBody>
      </p:sp>
      <p:sp>
        <p:nvSpPr>
          <p:cNvPr id="22" name="Shape 20"/>
          <p:cNvSpPr/>
          <p:nvPr/>
        </p:nvSpPr>
        <p:spPr>
          <a:xfrm>
            <a:off x="2697480" y="4727448"/>
            <a:ext cx="548640" cy="0"/>
          </a:xfrm>
          <a:prstGeom prst="line">
            <a:avLst/>
          </a:prstGeom>
          <a:noFill/>
          <a:ln w="17780">
            <a:solidFill>
              <a:srgbClr val="94A3B8"/>
            </a:solidFill>
            <a:prstDash val="solid"/>
            <a:headEnd type="none"/>
            <a:tailEnd type="triangle"/>
          </a:ln>
        </p:spPr>
      </p:sp>
      <p:sp>
        <p:nvSpPr>
          <p:cNvPr id="23" name="Shape 21"/>
          <p:cNvSpPr/>
          <p:nvPr/>
        </p:nvSpPr>
        <p:spPr>
          <a:xfrm>
            <a:off x="3291840" y="4389120"/>
            <a:ext cx="1920240" cy="676656"/>
          </a:xfrm>
          <a:prstGeom prst="roundRect">
            <a:avLst>
              <a:gd name="adj" fmla="val 16216"/>
            </a:avLst>
          </a:prstGeom>
          <a:solidFill>
            <a:srgbClr val="FFFFFF"/>
          </a:solidFill>
          <a:ln w="12700">
            <a:solidFill>
              <a:srgbClr val="E2E8F0"/>
            </a:solidFill>
            <a:prstDash val="solid"/>
          </a:ln>
        </p:spPr>
      </p:sp>
      <p:sp>
        <p:nvSpPr>
          <p:cNvPr id="24" name="Shape 22"/>
          <p:cNvSpPr/>
          <p:nvPr/>
        </p:nvSpPr>
        <p:spPr>
          <a:xfrm>
            <a:off x="3401568" y="4553712"/>
            <a:ext cx="310896" cy="310896"/>
          </a:xfrm>
          <a:prstGeom prst="ellipse">
            <a:avLst/>
          </a:prstGeom>
          <a:solidFill>
            <a:srgbClr val="10B981"/>
          </a:solidFill>
          <a:ln w="12700">
            <a:solidFill>
              <a:srgbClr val="333333">
                <a:alpha val="0"/>
              </a:srgbClr>
            </a:solidFill>
            <a:prstDash val="solid"/>
          </a:ln>
        </p:spPr>
      </p:sp>
      <p:sp>
        <p:nvSpPr>
          <p:cNvPr id="25" name="Text 23"/>
          <p:cNvSpPr/>
          <p:nvPr/>
        </p:nvSpPr>
        <p:spPr>
          <a:xfrm>
            <a:off x="3401568" y="464515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2</a:t>
            </a:r>
            <a:endParaRPr lang="en-US" sz="680" dirty="0"/>
          </a:p>
        </p:txBody>
      </p:sp>
      <p:sp>
        <p:nvSpPr>
          <p:cNvPr id="26" name="Text 24"/>
          <p:cNvSpPr/>
          <p:nvPr/>
        </p:nvSpPr>
        <p:spPr>
          <a:xfrm>
            <a:off x="3794760" y="4572000"/>
            <a:ext cx="129844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Start Here</a:t>
            </a:r>
            <a:endParaRPr lang="en-US" sz="1050" dirty="0"/>
          </a:p>
        </p:txBody>
      </p:sp>
      <p:sp>
        <p:nvSpPr>
          <p:cNvPr id="27" name="Shape 25"/>
          <p:cNvSpPr/>
          <p:nvPr/>
        </p:nvSpPr>
        <p:spPr>
          <a:xfrm>
            <a:off x="5212080" y="4727448"/>
            <a:ext cx="548640" cy="0"/>
          </a:xfrm>
          <a:prstGeom prst="line">
            <a:avLst/>
          </a:prstGeom>
          <a:noFill/>
          <a:ln w="17780">
            <a:solidFill>
              <a:srgbClr val="94A3B8"/>
            </a:solidFill>
            <a:prstDash val="solid"/>
            <a:headEnd type="none"/>
            <a:tailEnd type="triangle"/>
          </a:ln>
        </p:spPr>
      </p:sp>
      <p:sp>
        <p:nvSpPr>
          <p:cNvPr id="28" name="Shape 26"/>
          <p:cNvSpPr/>
          <p:nvPr/>
        </p:nvSpPr>
        <p:spPr>
          <a:xfrm>
            <a:off x="5806440" y="4389120"/>
            <a:ext cx="1920240" cy="676656"/>
          </a:xfrm>
          <a:prstGeom prst="roundRect">
            <a:avLst>
              <a:gd name="adj" fmla="val 16216"/>
            </a:avLst>
          </a:prstGeom>
          <a:solidFill>
            <a:srgbClr val="FFFFFF"/>
          </a:solidFill>
          <a:ln w="12700">
            <a:solidFill>
              <a:srgbClr val="E2E8F0"/>
            </a:solidFill>
            <a:prstDash val="solid"/>
          </a:ln>
        </p:spPr>
      </p:sp>
      <p:sp>
        <p:nvSpPr>
          <p:cNvPr id="29" name="Shape 27"/>
          <p:cNvSpPr/>
          <p:nvPr/>
        </p:nvSpPr>
        <p:spPr>
          <a:xfrm>
            <a:off x="5916168" y="4553712"/>
            <a:ext cx="310896" cy="310896"/>
          </a:xfrm>
          <a:prstGeom prst="ellipse">
            <a:avLst/>
          </a:prstGeom>
          <a:solidFill>
            <a:srgbClr val="F59E0B"/>
          </a:solidFill>
          <a:ln w="12700">
            <a:solidFill>
              <a:srgbClr val="333333">
                <a:alpha val="0"/>
              </a:srgbClr>
            </a:solidFill>
            <a:prstDash val="solid"/>
          </a:ln>
        </p:spPr>
      </p:sp>
      <p:sp>
        <p:nvSpPr>
          <p:cNvPr id="30" name="Text 28"/>
          <p:cNvSpPr/>
          <p:nvPr/>
        </p:nvSpPr>
        <p:spPr>
          <a:xfrm>
            <a:off x="5916168" y="464515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3</a:t>
            </a:r>
            <a:endParaRPr lang="en-US" sz="680" dirty="0"/>
          </a:p>
        </p:txBody>
      </p:sp>
      <p:sp>
        <p:nvSpPr>
          <p:cNvPr id="31" name="Text 29"/>
          <p:cNvSpPr/>
          <p:nvPr/>
        </p:nvSpPr>
        <p:spPr>
          <a:xfrm>
            <a:off x="6309360" y="4572000"/>
            <a:ext cx="129844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Inspect output</a:t>
            </a:r>
            <a:endParaRPr lang="en-US" sz="1050" dirty="0"/>
          </a:p>
        </p:txBody>
      </p:sp>
      <p:sp>
        <p:nvSpPr>
          <p:cNvPr id="32" name="Shape 30"/>
          <p:cNvSpPr/>
          <p:nvPr/>
        </p:nvSpPr>
        <p:spPr>
          <a:xfrm>
            <a:off x="7726680" y="4727448"/>
            <a:ext cx="548640" cy="0"/>
          </a:xfrm>
          <a:prstGeom prst="line">
            <a:avLst/>
          </a:prstGeom>
          <a:noFill/>
          <a:ln w="17780">
            <a:solidFill>
              <a:srgbClr val="94A3B8"/>
            </a:solidFill>
            <a:prstDash val="solid"/>
            <a:headEnd type="none"/>
            <a:tailEnd type="triangle"/>
          </a:ln>
        </p:spPr>
      </p:sp>
      <p:sp>
        <p:nvSpPr>
          <p:cNvPr id="33" name="Shape 31"/>
          <p:cNvSpPr/>
          <p:nvPr/>
        </p:nvSpPr>
        <p:spPr>
          <a:xfrm>
            <a:off x="8321040" y="4389120"/>
            <a:ext cx="1920240" cy="676656"/>
          </a:xfrm>
          <a:prstGeom prst="roundRect">
            <a:avLst>
              <a:gd name="adj" fmla="val 16216"/>
            </a:avLst>
          </a:prstGeom>
          <a:solidFill>
            <a:srgbClr val="FFFFFF"/>
          </a:solidFill>
          <a:ln w="12700">
            <a:solidFill>
              <a:srgbClr val="E2E8F0"/>
            </a:solidFill>
            <a:prstDash val="solid"/>
          </a:ln>
        </p:spPr>
      </p:sp>
      <p:sp>
        <p:nvSpPr>
          <p:cNvPr id="34" name="Shape 32"/>
          <p:cNvSpPr/>
          <p:nvPr/>
        </p:nvSpPr>
        <p:spPr>
          <a:xfrm>
            <a:off x="8430768" y="4553712"/>
            <a:ext cx="310896" cy="310896"/>
          </a:xfrm>
          <a:prstGeom prst="ellipse">
            <a:avLst/>
          </a:prstGeom>
          <a:solidFill>
            <a:srgbClr val="EF4444"/>
          </a:solidFill>
          <a:ln w="12700">
            <a:solidFill>
              <a:srgbClr val="333333">
                <a:alpha val="0"/>
              </a:srgbClr>
            </a:solidFill>
            <a:prstDash val="solid"/>
          </a:ln>
        </p:spPr>
      </p:sp>
      <p:sp>
        <p:nvSpPr>
          <p:cNvPr id="35" name="Text 33"/>
          <p:cNvSpPr/>
          <p:nvPr/>
        </p:nvSpPr>
        <p:spPr>
          <a:xfrm>
            <a:off x="8430768" y="4645152"/>
            <a:ext cx="310896" cy="91440"/>
          </a:xfrm>
          <a:prstGeom prst="rect">
            <a:avLst/>
          </a:prstGeom>
          <a:noFill/>
          <a:ln/>
        </p:spPr>
        <p:txBody>
          <a:bodyPr wrap="square" lIns="0" tIns="0" rIns="0" bIns="0" rtlCol="0" anchor="ctr"/>
          <a:lstStyle/>
          <a:p>
            <a:pPr algn="ctr" indent="0" marL="0">
              <a:buNone/>
            </a:pPr>
            <a:r>
              <a:rPr lang="en-US" sz="680" b="1" dirty="0">
                <a:solidFill>
                  <a:srgbClr val="FFFFFF"/>
                </a:solidFill>
              </a:rPr>
              <a:t>4</a:t>
            </a:r>
            <a:endParaRPr lang="en-US" sz="680" dirty="0"/>
          </a:p>
        </p:txBody>
      </p:sp>
      <p:sp>
        <p:nvSpPr>
          <p:cNvPr id="36" name="Text 34"/>
          <p:cNvSpPr/>
          <p:nvPr/>
        </p:nvSpPr>
        <p:spPr>
          <a:xfrm>
            <a:off x="8823960" y="4572000"/>
            <a:ext cx="1298448" cy="256032"/>
          </a:xfrm>
          <a:prstGeom prst="rect">
            <a:avLst/>
          </a:prstGeom>
          <a:noFill/>
          <a:ln/>
        </p:spPr>
        <p:txBody>
          <a:bodyPr wrap="square" lIns="0" tIns="0" rIns="0" bIns="0" rtlCol="0" anchor="ctr">
            <a:normAutofit/>
          </a:bodyPr>
          <a:lstStyle/>
          <a:p>
            <a:pPr indent="0" marL="0">
              <a:buNone/>
            </a:pPr>
            <a:r>
              <a:rPr lang="en-US" sz="1050" b="1" dirty="0">
                <a:solidFill>
                  <a:srgbClr val="111827"/>
                </a:solidFill>
              </a:rPr>
              <a:t>Review audit</a:t>
            </a:r>
            <a:endParaRPr lang="en-US" sz="1050" dirty="0"/>
          </a:p>
        </p:txBody>
      </p:sp>
      <p:sp>
        <p:nvSpPr>
          <p:cNvPr id="37" name="Shape 35"/>
          <p:cNvSpPr/>
          <p:nvPr/>
        </p:nvSpPr>
        <p:spPr>
          <a:xfrm>
            <a:off x="594360" y="6446520"/>
            <a:ext cx="10972800" cy="0"/>
          </a:xfrm>
          <a:prstGeom prst="line">
            <a:avLst/>
          </a:prstGeom>
          <a:noFill/>
          <a:ln w="6350">
            <a:solidFill>
              <a:srgbClr val="CBD5E1"/>
            </a:solidFill>
            <a:prstDash val="solid"/>
          </a:ln>
        </p:spPr>
      </p:sp>
      <p:sp>
        <p:nvSpPr>
          <p:cNvPr id="38" name="Text 36"/>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39" name="Text 37"/>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SCOPE</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Enterprise readiness: honest boundaries</a:t>
            </a:r>
            <a:endParaRPr lang="en-US" sz="2800" dirty="0"/>
          </a:p>
        </p:txBody>
      </p:sp>
      <p:sp>
        <p:nvSpPr>
          <p:cNvPr id="4" name="Text 2"/>
          <p:cNvSpPr/>
          <p:nvPr/>
        </p:nvSpPr>
        <p:spPr>
          <a:xfrm>
            <a:off x="612648" y="1325880"/>
            <a:ext cx="9601200" cy="274320"/>
          </a:xfrm>
          <a:prstGeom prst="rect">
            <a:avLst/>
          </a:prstGeom>
          <a:noFill/>
          <a:ln/>
        </p:spPr>
        <p:txBody>
          <a:bodyPr wrap="square" lIns="0" tIns="0" rIns="0" bIns="0" rtlCol="0" anchor="ctr"/>
          <a:lstStyle/>
          <a:p>
            <a:pPr indent="0" marL="0">
              <a:buNone/>
            </a:pPr>
            <a:r>
              <a:rPr lang="en-US" sz="1500" dirty="0">
                <a:solidFill>
                  <a:srgbClr val="475569"/>
                </a:solidFill>
              </a:rPr>
              <a:t>The portfolio is strongest when it says what is real and what is not production-ready.</a:t>
            </a:r>
            <a:endParaRPr lang="en-US" sz="1500" dirty="0"/>
          </a:p>
        </p:txBody>
      </p:sp>
      <p:sp>
        <p:nvSpPr>
          <p:cNvPr id="5" name="Text 3"/>
          <p:cNvSpPr/>
          <p:nvPr/>
        </p:nvSpPr>
        <p:spPr>
          <a:xfrm>
            <a:off x="777240" y="1874520"/>
            <a:ext cx="2926080" cy="228600"/>
          </a:xfrm>
          <a:prstGeom prst="rect">
            <a:avLst/>
          </a:prstGeom>
          <a:noFill/>
          <a:ln/>
        </p:spPr>
        <p:txBody>
          <a:bodyPr wrap="square" lIns="0" tIns="0" rIns="0" bIns="0" rtlCol="0" anchor="ctr"/>
          <a:lstStyle/>
          <a:p>
            <a:pPr indent="0" marL="0">
              <a:buNone/>
            </a:pPr>
            <a:r>
              <a:rPr lang="en-US" sz="1500" b="1" dirty="0">
                <a:solidFill>
                  <a:srgbClr val="10B981"/>
                </a:solidFill>
              </a:rPr>
              <a:t>Real local controls</a:t>
            </a:r>
            <a:endParaRPr lang="en-US" sz="1500" dirty="0"/>
          </a:p>
        </p:txBody>
      </p:sp>
      <p:sp>
        <p:nvSpPr>
          <p:cNvPr id="6" name="Text 4"/>
          <p:cNvSpPr/>
          <p:nvPr/>
        </p:nvSpPr>
        <p:spPr>
          <a:xfrm>
            <a:off x="777240" y="2286000"/>
            <a:ext cx="4114800" cy="1463040"/>
          </a:xfrm>
          <a:prstGeom prst="rect">
            <a:avLst/>
          </a:prstGeom>
          <a:noFill/>
          <a:ln/>
        </p:spPr>
        <p:txBody>
          <a:bodyPr wrap="square" lIns="254" tIns="254" rIns="254" bIns="254" rtlCol="0" anchor="ctr"/>
          <a:lstStyle/>
          <a:p>
            <a:pPr indent="0" marL="0">
              <a:buNone/>
            </a:pPr>
            <a:r>
              <a:rPr lang="en-US" sz="1250" dirty="0">
                <a:solidFill>
                  <a:srgbClr val="111827"/>
                </a:solidFill>
              </a:rPr>
              <a:t>• Streamlit app</a:t>
            </a:r>
            <a:endParaRPr lang="en-US" sz="1250" dirty="0"/>
          </a:p>
          <a:p>
            <a:pPr indent="0" marL="0">
              <a:buNone/>
            </a:pPr>
            <a:r>
              <a:rPr lang="en-US" sz="1250" dirty="0">
                <a:solidFill>
                  <a:srgbClr val="111827"/>
                </a:solidFill>
              </a:rPr>
              <a:t>• Tests and services</a:t>
            </a:r>
            <a:endParaRPr lang="en-US" sz="1250" dirty="0"/>
          </a:p>
          <a:p>
            <a:pPr indent="0" marL="0">
              <a:buNone/>
            </a:pPr>
            <a:r>
              <a:rPr lang="en-US" sz="1250" dirty="0">
                <a:solidFill>
                  <a:srgbClr val="111827"/>
                </a:solidFill>
              </a:rPr>
              <a:t>• Local SQLite metrics</a:t>
            </a:r>
            <a:endParaRPr lang="en-US" sz="1250" dirty="0"/>
          </a:p>
          <a:p>
            <a:pPr indent="0" marL="0">
              <a:buNone/>
            </a:pPr>
            <a:r>
              <a:rPr lang="en-US" sz="1250" dirty="0">
                <a:solidFill>
                  <a:srgbClr val="111827"/>
                </a:solidFill>
              </a:rPr>
              <a:t>• Import/export flows</a:t>
            </a:r>
            <a:endParaRPr lang="en-US" sz="1250" dirty="0"/>
          </a:p>
          <a:p>
            <a:pPr indent="0" marL="0">
              <a:buNone/>
            </a:pPr>
            <a:r>
              <a:rPr lang="en-US" sz="1250" dirty="0">
                <a:solidFill>
                  <a:srgbClr val="111827"/>
                </a:solidFill>
              </a:rPr>
              <a:t>• Claim hygiene scanner</a:t>
            </a:r>
            <a:endParaRPr lang="en-US" sz="1250" dirty="0"/>
          </a:p>
          <a:p>
            <a:pPr indent="0" marL="0">
              <a:buNone/>
            </a:pPr>
            <a:r>
              <a:rPr lang="en-US" sz="1250" dirty="0">
                <a:solidFill>
                  <a:srgbClr val="111827"/>
                </a:solidFill>
              </a:rPr>
              <a:t>• Negative QA gate</a:t>
            </a:r>
            <a:endParaRPr lang="en-US" sz="1250" dirty="0"/>
          </a:p>
        </p:txBody>
      </p:sp>
      <p:sp>
        <p:nvSpPr>
          <p:cNvPr id="7" name="Text 5"/>
          <p:cNvSpPr/>
          <p:nvPr/>
        </p:nvSpPr>
        <p:spPr>
          <a:xfrm>
            <a:off x="6309360" y="1874520"/>
            <a:ext cx="2926080" cy="228600"/>
          </a:xfrm>
          <a:prstGeom prst="rect">
            <a:avLst/>
          </a:prstGeom>
          <a:noFill/>
          <a:ln/>
        </p:spPr>
        <p:txBody>
          <a:bodyPr wrap="square" lIns="0" tIns="0" rIns="0" bIns="0" rtlCol="0" anchor="ctr"/>
          <a:lstStyle/>
          <a:p>
            <a:pPr indent="0" marL="0">
              <a:buNone/>
            </a:pPr>
            <a:r>
              <a:rPr lang="en-US" sz="1500" b="1" dirty="0">
                <a:solidFill>
                  <a:srgbClr val="EF4444"/>
                </a:solidFill>
              </a:rPr>
              <a:t>Not claimed</a:t>
            </a:r>
            <a:endParaRPr lang="en-US" sz="1500" dirty="0"/>
          </a:p>
        </p:txBody>
      </p:sp>
      <p:sp>
        <p:nvSpPr>
          <p:cNvPr id="8" name="Text 6"/>
          <p:cNvSpPr/>
          <p:nvPr/>
        </p:nvSpPr>
        <p:spPr>
          <a:xfrm>
            <a:off x="6309360" y="2286000"/>
            <a:ext cx="4389120" cy="1463040"/>
          </a:xfrm>
          <a:prstGeom prst="rect">
            <a:avLst/>
          </a:prstGeom>
          <a:noFill/>
          <a:ln/>
        </p:spPr>
        <p:txBody>
          <a:bodyPr wrap="square" lIns="254" tIns="254" rIns="254" bIns="254" rtlCol="0" anchor="ctr"/>
          <a:lstStyle/>
          <a:p>
            <a:pPr indent="0" marL="0">
              <a:buNone/>
            </a:pPr>
            <a:r>
              <a:rPr lang="en-US" sz="1250" dirty="0">
                <a:solidFill>
                  <a:srgbClr val="111827"/>
                </a:solidFill>
              </a:rPr>
              <a:t>• Production SSO</a:t>
            </a:r>
            <a:endParaRPr lang="en-US" sz="1250" dirty="0"/>
          </a:p>
          <a:p>
            <a:pPr indent="0" marL="0">
              <a:buNone/>
            </a:pPr>
            <a:r>
              <a:rPr lang="en-US" sz="1250" dirty="0">
                <a:solidFill>
                  <a:srgbClr val="111827"/>
                </a:solidFill>
              </a:rPr>
              <a:t>• Multi-tenant RBAC</a:t>
            </a:r>
            <a:endParaRPr lang="en-US" sz="1250" dirty="0"/>
          </a:p>
          <a:p>
            <a:pPr indent="0" marL="0">
              <a:buNone/>
            </a:pPr>
            <a:r>
              <a:rPr lang="en-US" sz="1250" dirty="0">
                <a:solidFill>
                  <a:srgbClr val="111827"/>
                </a:solidFill>
              </a:rPr>
              <a:t>• Immutable audit logs</a:t>
            </a:r>
            <a:endParaRPr lang="en-US" sz="1250" dirty="0"/>
          </a:p>
          <a:p>
            <a:pPr indent="0" marL="0">
              <a:buNone/>
            </a:pPr>
            <a:r>
              <a:rPr lang="en-US" sz="1250" dirty="0">
                <a:solidFill>
                  <a:srgbClr val="111827"/>
                </a:solidFill>
              </a:rPr>
              <a:t>• Live Jira/Slack OAuth</a:t>
            </a:r>
            <a:endParaRPr lang="en-US" sz="1250" dirty="0"/>
          </a:p>
          <a:p>
            <a:pPr indent="0" marL="0">
              <a:buNone/>
            </a:pPr>
            <a:r>
              <a:rPr lang="en-US" sz="1250" dirty="0">
                <a:solidFill>
                  <a:srgbClr val="111827"/>
                </a:solidFill>
              </a:rPr>
              <a:t>• Legal/compliance approval</a:t>
            </a:r>
            <a:endParaRPr lang="en-US" sz="1250" dirty="0"/>
          </a:p>
          <a:p>
            <a:pPr indent="0" marL="0">
              <a:buNone/>
            </a:pPr>
            <a:r>
              <a:rPr lang="en-US" sz="1250" dirty="0">
                <a:solidFill>
                  <a:srgbClr val="111827"/>
                </a:solidFill>
              </a:rPr>
              <a:t>• Deployment hardening</a:t>
            </a:r>
            <a:endParaRPr lang="en-US" sz="1250" dirty="0"/>
          </a:p>
        </p:txBody>
      </p:sp>
      <p:sp>
        <p:nvSpPr>
          <p:cNvPr id="9" name="Shape 7"/>
          <p:cNvSpPr/>
          <p:nvPr/>
        </p:nvSpPr>
        <p:spPr>
          <a:xfrm>
            <a:off x="777240" y="4754880"/>
            <a:ext cx="10058400" cy="685800"/>
          </a:xfrm>
          <a:prstGeom prst="roundRect">
            <a:avLst>
              <a:gd name="adj" fmla="val 10667"/>
            </a:avLst>
          </a:prstGeom>
          <a:solidFill>
            <a:srgbClr val="F8FAFC"/>
          </a:solidFill>
          <a:ln w="12700">
            <a:solidFill>
              <a:srgbClr val="CBD5E1"/>
            </a:solidFill>
            <a:prstDash val="solid"/>
          </a:ln>
        </p:spPr>
      </p:sp>
      <p:sp>
        <p:nvSpPr>
          <p:cNvPr id="10" name="Text 8"/>
          <p:cNvSpPr/>
          <p:nvPr/>
        </p:nvSpPr>
        <p:spPr>
          <a:xfrm>
            <a:off x="1051560" y="5010912"/>
            <a:ext cx="9509760" cy="201168"/>
          </a:xfrm>
          <a:prstGeom prst="rect">
            <a:avLst/>
          </a:prstGeom>
          <a:noFill/>
          <a:ln/>
        </p:spPr>
        <p:txBody>
          <a:bodyPr wrap="square" lIns="0" tIns="0" rIns="0" bIns="0" rtlCol="0" anchor="ctr"/>
          <a:lstStyle/>
          <a:p>
            <a:pPr indent="0" marL="0">
              <a:buNone/>
            </a:pPr>
            <a:r>
              <a:rPr lang="en-US" sz="1400" b="1" dirty="0">
                <a:solidFill>
                  <a:srgbClr val="111827"/>
                </a:solidFill>
              </a:rPr>
              <a:t>This is the point: enterprise AI PMs must know how to avoid overclaiming maturity.</a:t>
            </a:r>
            <a:endParaRPr lang="en-US" sz="1400" dirty="0"/>
          </a:p>
        </p:txBody>
      </p:sp>
      <p:sp>
        <p:nvSpPr>
          <p:cNvPr id="11" name="Shape 9"/>
          <p:cNvSpPr/>
          <p:nvPr/>
        </p:nvSpPr>
        <p:spPr>
          <a:xfrm>
            <a:off x="594360" y="6446520"/>
            <a:ext cx="10972800" cy="0"/>
          </a:xfrm>
          <a:prstGeom prst="line">
            <a:avLst/>
          </a:prstGeom>
          <a:noFill/>
          <a:ln w="6350">
            <a:solidFill>
              <a:srgbClr val="CBD5E1"/>
            </a:solidFill>
            <a:prstDash val="solid"/>
          </a:ln>
        </p:spPr>
      </p:sp>
      <p:sp>
        <p:nvSpPr>
          <p:cNvPr id="12" name="Text 10"/>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13" name="Text 11"/>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94360" y="411480"/>
            <a:ext cx="3657600" cy="201168"/>
          </a:xfrm>
          <a:prstGeom prst="rect">
            <a:avLst/>
          </a:prstGeom>
          <a:noFill/>
          <a:ln/>
        </p:spPr>
        <p:txBody>
          <a:bodyPr wrap="square" lIns="0" tIns="0" rIns="0" bIns="0" rtlCol="0" anchor="ctr"/>
          <a:lstStyle/>
          <a:p>
            <a:pPr indent="0" marL="0">
              <a:buNone/>
            </a:pPr>
            <a:r>
              <a:rPr lang="en-US" sz="850" b="1" dirty="0">
                <a:solidFill>
                  <a:srgbClr val="2563EB"/>
                </a:solidFill>
                <a:latin typeface="Aptos" pitchFamily="34" charset="0"/>
                <a:ea typeface="Aptos" pitchFamily="34" charset="-122"/>
                <a:cs typeface="Aptos" pitchFamily="34" charset="-120"/>
              </a:rPr>
              <a:t>HIRING SIGNAL</a:t>
            </a:r>
            <a:endParaRPr lang="en-US" sz="850" dirty="0"/>
          </a:p>
        </p:txBody>
      </p:sp>
      <p:sp>
        <p:nvSpPr>
          <p:cNvPr id="3" name="Text 1"/>
          <p:cNvSpPr/>
          <p:nvPr/>
        </p:nvSpPr>
        <p:spPr>
          <a:xfrm>
            <a:off x="594360" y="685800"/>
            <a:ext cx="10607040" cy="56692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What this demonstrates about Marco</a:t>
            </a:r>
            <a:endParaRPr lang="en-US" sz="2800" dirty="0"/>
          </a:p>
        </p:txBody>
      </p:sp>
      <p:sp>
        <p:nvSpPr>
          <p:cNvPr id="4" name="Text 2"/>
          <p:cNvSpPr/>
          <p:nvPr/>
        </p:nvSpPr>
        <p:spPr>
          <a:xfrm>
            <a:off x="612648" y="1325880"/>
            <a:ext cx="9144000" cy="274320"/>
          </a:xfrm>
          <a:prstGeom prst="rect">
            <a:avLst/>
          </a:prstGeom>
          <a:noFill/>
          <a:ln/>
        </p:spPr>
        <p:txBody>
          <a:bodyPr wrap="square" lIns="0" tIns="0" rIns="0" bIns="0" rtlCol="0" anchor="ctr"/>
          <a:lstStyle/>
          <a:p>
            <a:pPr indent="0" marL="0">
              <a:buNone/>
            </a:pPr>
            <a:r>
              <a:rPr lang="en-US" sz="1500" dirty="0">
                <a:solidFill>
                  <a:srgbClr val="475569"/>
                </a:solidFill>
              </a:rPr>
              <a:t>The project is designed to make product judgment visible, not just code execution.</a:t>
            </a:r>
            <a:endParaRPr lang="en-US" sz="1500" dirty="0"/>
          </a:p>
        </p:txBody>
      </p:sp>
      <p:sp>
        <p:nvSpPr>
          <p:cNvPr id="5" name="Shape 3"/>
          <p:cNvSpPr/>
          <p:nvPr/>
        </p:nvSpPr>
        <p:spPr>
          <a:xfrm>
            <a:off x="777240" y="1892808"/>
            <a:ext cx="228600" cy="228600"/>
          </a:xfrm>
          <a:prstGeom prst="ellipse">
            <a:avLst/>
          </a:prstGeom>
          <a:solidFill>
            <a:srgbClr val="2563EB"/>
          </a:solidFill>
          <a:ln w="12700">
            <a:solidFill>
              <a:srgbClr val="333333">
                <a:alpha val="0"/>
              </a:srgbClr>
            </a:solidFill>
            <a:prstDash val="solid"/>
          </a:ln>
        </p:spPr>
      </p:sp>
      <p:sp>
        <p:nvSpPr>
          <p:cNvPr id="6" name="Text 4"/>
          <p:cNvSpPr/>
          <p:nvPr/>
        </p:nvSpPr>
        <p:spPr>
          <a:xfrm>
            <a:off x="1115568" y="1874520"/>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Domain understanding</a:t>
            </a:r>
            <a:endParaRPr lang="en-US" sz="1250" dirty="0"/>
          </a:p>
        </p:txBody>
      </p:sp>
      <p:sp>
        <p:nvSpPr>
          <p:cNvPr id="7" name="Text 5"/>
          <p:cNvSpPr/>
          <p:nvPr/>
        </p:nvSpPr>
        <p:spPr>
          <a:xfrm>
            <a:off x="4206240" y="1874520"/>
            <a:ext cx="6217920" cy="228600"/>
          </a:xfrm>
          <a:prstGeom prst="rect">
            <a:avLst/>
          </a:prstGeom>
          <a:noFill/>
          <a:ln/>
        </p:spPr>
        <p:txBody>
          <a:bodyPr wrap="square" lIns="0" tIns="0" rIns="0" bIns="0" rtlCol="0" anchor="ctr"/>
          <a:lstStyle/>
          <a:p>
            <a:pPr indent="0" marL="0">
              <a:buNone/>
            </a:pPr>
            <a:r>
              <a:rPr lang="en-US" sz="1200" dirty="0">
                <a:solidFill>
                  <a:srgbClr val="475569"/>
                </a:solidFill>
              </a:rPr>
              <a:t>Compliance source material translated into product work</a:t>
            </a:r>
            <a:endParaRPr lang="en-US" sz="1200" dirty="0"/>
          </a:p>
        </p:txBody>
      </p:sp>
      <p:sp>
        <p:nvSpPr>
          <p:cNvPr id="8" name="Shape 6"/>
          <p:cNvSpPr/>
          <p:nvPr/>
        </p:nvSpPr>
        <p:spPr>
          <a:xfrm>
            <a:off x="777240" y="2459736"/>
            <a:ext cx="228600" cy="228600"/>
          </a:xfrm>
          <a:prstGeom prst="ellipse">
            <a:avLst/>
          </a:prstGeom>
          <a:solidFill>
            <a:srgbClr val="10B981"/>
          </a:solidFill>
          <a:ln w="12700">
            <a:solidFill>
              <a:srgbClr val="333333">
                <a:alpha val="0"/>
              </a:srgbClr>
            </a:solidFill>
            <a:prstDash val="solid"/>
          </a:ln>
        </p:spPr>
      </p:sp>
      <p:sp>
        <p:nvSpPr>
          <p:cNvPr id="9" name="Text 7"/>
          <p:cNvSpPr/>
          <p:nvPr/>
        </p:nvSpPr>
        <p:spPr>
          <a:xfrm>
            <a:off x="1115568" y="2441448"/>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AI workflow design</a:t>
            </a:r>
            <a:endParaRPr lang="en-US" sz="1250" dirty="0"/>
          </a:p>
        </p:txBody>
      </p:sp>
      <p:sp>
        <p:nvSpPr>
          <p:cNvPr id="10" name="Text 8"/>
          <p:cNvSpPr/>
          <p:nvPr/>
        </p:nvSpPr>
        <p:spPr>
          <a:xfrm>
            <a:off x="4206240" y="2441448"/>
            <a:ext cx="6217920" cy="228600"/>
          </a:xfrm>
          <a:prstGeom prst="rect">
            <a:avLst/>
          </a:prstGeom>
          <a:noFill/>
          <a:ln/>
        </p:spPr>
        <p:txBody>
          <a:bodyPr wrap="square" lIns="0" tIns="0" rIns="0" bIns="0" rtlCol="0" anchor="ctr"/>
          <a:lstStyle/>
          <a:p>
            <a:pPr indent="0" marL="0">
              <a:buNone/>
            </a:pPr>
            <a:r>
              <a:rPr lang="en-US" sz="1200" dirty="0">
                <a:solidFill>
                  <a:srgbClr val="475569"/>
                </a:solidFill>
              </a:rPr>
              <a:t>Structured pipeline beyond prompting</a:t>
            </a:r>
            <a:endParaRPr lang="en-US" sz="1200" dirty="0"/>
          </a:p>
        </p:txBody>
      </p:sp>
      <p:sp>
        <p:nvSpPr>
          <p:cNvPr id="11" name="Shape 9"/>
          <p:cNvSpPr/>
          <p:nvPr/>
        </p:nvSpPr>
        <p:spPr>
          <a:xfrm>
            <a:off x="777240" y="3026664"/>
            <a:ext cx="228600" cy="228600"/>
          </a:xfrm>
          <a:prstGeom prst="ellipse">
            <a:avLst/>
          </a:prstGeom>
          <a:solidFill>
            <a:srgbClr val="7C3AED"/>
          </a:solidFill>
          <a:ln w="12700">
            <a:solidFill>
              <a:srgbClr val="333333">
                <a:alpha val="0"/>
              </a:srgbClr>
            </a:solidFill>
            <a:prstDash val="solid"/>
          </a:ln>
        </p:spPr>
      </p:sp>
      <p:sp>
        <p:nvSpPr>
          <p:cNvPr id="12" name="Text 10"/>
          <p:cNvSpPr/>
          <p:nvPr/>
        </p:nvSpPr>
        <p:spPr>
          <a:xfrm>
            <a:off x="1115568" y="3008376"/>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Human review</a:t>
            </a:r>
            <a:endParaRPr lang="en-US" sz="1250" dirty="0"/>
          </a:p>
        </p:txBody>
      </p:sp>
      <p:sp>
        <p:nvSpPr>
          <p:cNvPr id="13" name="Text 11"/>
          <p:cNvSpPr/>
          <p:nvPr/>
        </p:nvSpPr>
        <p:spPr>
          <a:xfrm>
            <a:off x="4206240" y="3008376"/>
            <a:ext cx="6217920" cy="228600"/>
          </a:xfrm>
          <a:prstGeom prst="rect">
            <a:avLst/>
          </a:prstGeom>
          <a:noFill/>
          <a:ln/>
        </p:spPr>
        <p:txBody>
          <a:bodyPr wrap="square" lIns="0" tIns="0" rIns="0" bIns="0" rtlCol="0" anchor="ctr"/>
          <a:lstStyle/>
          <a:p>
            <a:pPr indent="0" marL="0">
              <a:buNone/>
            </a:pPr>
            <a:r>
              <a:rPr lang="en-US" sz="1200" dirty="0">
                <a:solidFill>
                  <a:srgbClr val="475569"/>
                </a:solidFill>
              </a:rPr>
              <a:t>Reviewer corrections and approval gates</a:t>
            </a:r>
            <a:endParaRPr lang="en-US" sz="1200" dirty="0"/>
          </a:p>
        </p:txBody>
      </p:sp>
      <p:sp>
        <p:nvSpPr>
          <p:cNvPr id="14" name="Shape 12"/>
          <p:cNvSpPr/>
          <p:nvPr/>
        </p:nvSpPr>
        <p:spPr>
          <a:xfrm>
            <a:off x="777240" y="3593592"/>
            <a:ext cx="228600" cy="228600"/>
          </a:xfrm>
          <a:prstGeom prst="ellipse">
            <a:avLst/>
          </a:prstGeom>
          <a:solidFill>
            <a:srgbClr val="F59E0B"/>
          </a:solidFill>
          <a:ln w="12700">
            <a:solidFill>
              <a:srgbClr val="333333">
                <a:alpha val="0"/>
              </a:srgbClr>
            </a:solidFill>
            <a:prstDash val="solid"/>
          </a:ln>
        </p:spPr>
      </p:sp>
      <p:sp>
        <p:nvSpPr>
          <p:cNvPr id="15" name="Text 13"/>
          <p:cNvSpPr/>
          <p:nvPr/>
        </p:nvSpPr>
        <p:spPr>
          <a:xfrm>
            <a:off x="1115568" y="3575304"/>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Risk-aware communication</a:t>
            </a:r>
            <a:endParaRPr lang="en-US" sz="1250" dirty="0"/>
          </a:p>
        </p:txBody>
      </p:sp>
      <p:sp>
        <p:nvSpPr>
          <p:cNvPr id="16" name="Text 14"/>
          <p:cNvSpPr/>
          <p:nvPr/>
        </p:nvSpPr>
        <p:spPr>
          <a:xfrm>
            <a:off x="4206240" y="3575304"/>
            <a:ext cx="6217920" cy="228600"/>
          </a:xfrm>
          <a:prstGeom prst="rect">
            <a:avLst/>
          </a:prstGeom>
          <a:noFill/>
          <a:ln/>
        </p:spPr>
        <p:txBody>
          <a:bodyPr wrap="square" lIns="0" tIns="0" rIns="0" bIns="0" rtlCol="0" anchor="ctr"/>
          <a:lstStyle/>
          <a:p>
            <a:pPr indent="0" marL="0">
              <a:buNone/>
            </a:pPr>
            <a:r>
              <a:rPr lang="en-US" sz="1200" dirty="0">
                <a:solidFill>
                  <a:srgbClr val="475569"/>
                </a:solidFill>
              </a:rPr>
              <a:t>Claim → risk → safer rewrite</a:t>
            </a:r>
            <a:endParaRPr lang="en-US" sz="1200" dirty="0"/>
          </a:p>
        </p:txBody>
      </p:sp>
      <p:sp>
        <p:nvSpPr>
          <p:cNvPr id="17" name="Shape 15"/>
          <p:cNvSpPr/>
          <p:nvPr/>
        </p:nvSpPr>
        <p:spPr>
          <a:xfrm>
            <a:off x="777240" y="4160520"/>
            <a:ext cx="228600" cy="228600"/>
          </a:xfrm>
          <a:prstGeom prst="ellipse">
            <a:avLst/>
          </a:prstGeom>
          <a:solidFill>
            <a:srgbClr val="EF4444"/>
          </a:solidFill>
          <a:ln w="12700">
            <a:solidFill>
              <a:srgbClr val="333333">
                <a:alpha val="0"/>
              </a:srgbClr>
            </a:solidFill>
            <a:prstDash val="solid"/>
          </a:ln>
        </p:spPr>
      </p:sp>
      <p:sp>
        <p:nvSpPr>
          <p:cNvPr id="18" name="Text 16"/>
          <p:cNvSpPr/>
          <p:nvPr/>
        </p:nvSpPr>
        <p:spPr>
          <a:xfrm>
            <a:off x="1115568" y="4142232"/>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Evaluation discipline</a:t>
            </a:r>
            <a:endParaRPr lang="en-US" sz="1250" dirty="0"/>
          </a:p>
        </p:txBody>
      </p:sp>
      <p:sp>
        <p:nvSpPr>
          <p:cNvPr id="19" name="Text 17"/>
          <p:cNvSpPr/>
          <p:nvPr/>
        </p:nvSpPr>
        <p:spPr>
          <a:xfrm>
            <a:off x="4206240" y="4142232"/>
            <a:ext cx="6217920" cy="228600"/>
          </a:xfrm>
          <a:prstGeom prst="rect">
            <a:avLst/>
          </a:prstGeom>
          <a:noFill/>
          <a:ln/>
        </p:spPr>
        <p:txBody>
          <a:bodyPr wrap="square" lIns="0" tIns="0" rIns="0" bIns="0" rtlCol="0" anchor="ctr"/>
          <a:lstStyle/>
          <a:p>
            <a:pPr indent="0" marL="0">
              <a:buNone/>
            </a:pPr>
            <a:r>
              <a:rPr lang="en-US" sz="1200" dirty="0">
                <a:solidFill>
                  <a:srgbClr val="475569"/>
                </a:solidFill>
              </a:rPr>
              <a:t>Negative tests, citation support, limitations</a:t>
            </a:r>
            <a:endParaRPr lang="en-US" sz="1200" dirty="0"/>
          </a:p>
        </p:txBody>
      </p:sp>
      <p:sp>
        <p:nvSpPr>
          <p:cNvPr id="20" name="Shape 18"/>
          <p:cNvSpPr/>
          <p:nvPr/>
        </p:nvSpPr>
        <p:spPr>
          <a:xfrm>
            <a:off x="777240" y="4727448"/>
            <a:ext cx="228600" cy="228600"/>
          </a:xfrm>
          <a:prstGeom prst="ellipse">
            <a:avLst/>
          </a:prstGeom>
          <a:solidFill>
            <a:srgbClr val="1D9BF0"/>
          </a:solidFill>
          <a:ln w="12700">
            <a:solidFill>
              <a:srgbClr val="333333">
                <a:alpha val="0"/>
              </a:srgbClr>
            </a:solidFill>
            <a:prstDash val="solid"/>
          </a:ln>
        </p:spPr>
      </p:sp>
      <p:sp>
        <p:nvSpPr>
          <p:cNvPr id="21" name="Text 19"/>
          <p:cNvSpPr/>
          <p:nvPr/>
        </p:nvSpPr>
        <p:spPr>
          <a:xfrm>
            <a:off x="1115568" y="4709160"/>
            <a:ext cx="2926080" cy="228600"/>
          </a:xfrm>
          <a:prstGeom prst="rect">
            <a:avLst/>
          </a:prstGeom>
          <a:noFill/>
          <a:ln/>
        </p:spPr>
        <p:txBody>
          <a:bodyPr wrap="square" lIns="0" tIns="0" rIns="0" bIns="0" rtlCol="0" anchor="ctr"/>
          <a:lstStyle/>
          <a:p>
            <a:pPr indent="0" marL="0">
              <a:buNone/>
            </a:pPr>
            <a:r>
              <a:rPr lang="en-US" sz="1250" b="1" dirty="0">
                <a:solidFill>
                  <a:srgbClr val="111827"/>
                </a:solidFill>
              </a:rPr>
              <a:t>Enterprise judgment</a:t>
            </a:r>
            <a:endParaRPr lang="en-US" sz="1250" dirty="0"/>
          </a:p>
        </p:txBody>
      </p:sp>
      <p:sp>
        <p:nvSpPr>
          <p:cNvPr id="22" name="Text 20"/>
          <p:cNvSpPr/>
          <p:nvPr/>
        </p:nvSpPr>
        <p:spPr>
          <a:xfrm>
            <a:off x="4206240" y="4709160"/>
            <a:ext cx="6217920" cy="228600"/>
          </a:xfrm>
          <a:prstGeom prst="rect">
            <a:avLst/>
          </a:prstGeom>
          <a:noFill/>
          <a:ln/>
        </p:spPr>
        <p:txBody>
          <a:bodyPr wrap="square" lIns="0" tIns="0" rIns="0" bIns="0" rtlCol="0" anchor="ctr"/>
          <a:lstStyle/>
          <a:p>
            <a:pPr indent="0" marL="0">
              <a:buNone/>
            </a:pPr>
            <a:r>
              <a:rPr lang="en-US" sz="1200" dirty="0">
                <a:solidFill>
                  <a:srgbClr val="475569"/>
                </a:solidFill>
              </a:rPr>
              <a:t>Real vs simulated boundaries</a:t>
            </a:r>
            <a:endParaRPr lang="en-US" sz="1200" dirty="0"/>
          </a:p>
        </p:txBody>
      </p:sp>
      <p:sp>
        <p:nvSpPr>
          <p:cNvPr id="23" name="Text 21"/>
          <p:cNvSpPr/>
          <p:nvPr/>
        </p:nvSpPr>
        <p:spPr>
          <a:xfrm>
            <a:off x="777240" y="5349240"/>
            <a:ext cx="2011680" cy="228600"/>
          </a:xfrm>
          <a:prstGeom prst="rect">
            <a:avLst/>
          </a:prstGeom>
          <a:noFill/>
          <a:ln/>
        </p:spPr>
        <p:txBody>
          <a:bodyPr wrap="square" lIns="0" tIns="0" rIns="0" bIns="0" rtlCol="0" anchor="ctr"/>
          <a:lstStyle/>
          <a:p>
            <a:pPr indent="0" marL="0">
              <a:buNone/>
            </a:pPr>
            <a:r>
              <a:rPr lang="en-US" sz="1400" b="1" dirty="0">
                <a:solidFill>
                  <a:srgbClr val="111827"/>
                </a:solidFill>
              </a:rPr>
              <a:t>Best-fit roles</a:t>
            </a:r>
            <a:endParaRPr lang="en-US" sz="1400" dirty="0"/>
          </a:p>
        </p:txBody>
      </p:sp>
      <p:sp>
        <p:nvSpPr>
          <p:cNvPr id="24" name="Text 22"/>
          <p:cNvSpPr/>
          <p:nvPr/>
        </p:nvSpPr>
        <p:spPr>
          <a:xfrm>
            <a:off x="777240" y="5696712"/>
            <a:ext cx="10058400" cy="182880"/>
          </a:xfrm>
          <a:prstGeom prst="rect">
            <a:avLst/>
          </a:prstGeom>
          <a:noFill/>
          <a:ln/>
        </p:spPr>
        <p:txBody>
          <a:bodyPr wrap="square" lIns="0" tIns="0" rIns="0" bIns="0" rtlCol="0" anchor="ctr"/>
          <a:lstStyle/>
          <a:p>
            <a:pPr indent="0" marL="0">
              <a:buNone/>
            </a:pPr>
            <a:r>
              <a:rPr lang="en-US" sz="1120" dirty="0">
                <a:solidFill>
                  <a:srgbClr val="475569"/>
                </a:solidFill>
              </a:rPr>
              <a:t>AI Product Manager · Enterprise Product Manager · Compliance/RegTech PM · Product Ops / Program Manager</a:t>
            </a:r>
            <a:endParaRPr lang="en-US" sz="1120" dirty="0"/>
          </a:p>
        </p:txBody>
      </p:sp>
      <p:sp>
        <p:nvSpPr>
          <p:cNvPr id="25" name="Shape 23"/>
          <p:cNvSpPr/>
          <p:nvPr/>
        </p:nvSpPr>
        <p:spPr>
          <a:xfrm>
            <a:off x="594360" y="6446520"/>
            <a:ext cx="10972800" cy="0"/>
          </a:xfrm>
          <a:prstGeom prst="line">
            <a:avLst/>
          </a:prstGeom>
          <a:noFill/>
          <a:ln w="6350">
            <a:solidFill>
              <a:srgbClr val="CBD5E1"/>
            </a:solidFill>
            <a:prstDash val="solid"/>
          </a:ln>
        </p:spPr>
      </p:sp>
      <p:sp>
        <p:nvSpPr>
          <p:cNvPr id="26" name="Text 24"/>
          <p:cNvSpPr/>
          <p:nvPr/>
        </p:nvSpPr>
        <p:spPr>
          <a:xfrm>
            <a:off x="594360" y="6528816"/>
            <a:ext cx="8412480" cy="146304"/>
          </a:xfrm>
          <a:prstGeom prst="rect">
            <a:avLst/>
          </a:prstGeom>
          <a:noFill/>
          <a:ln/>
        </p:spPr>
        <p:txBody>
          <a:bodyPr wrap="square" lIns="0" tIns="0" rIns="0" bIns="0" rtlCol="0" anchor="ctr"/>
          <a:lstStyle/>
          <a:p>
            <a:pPr indent="0" marL="0">
              <a:buNone/>
            </a:pPr>
            <a:r>
              <a:rPr lang="en-US" sz="750" dirty="0">
                <a:solidFill>
                  <a:srgbClr val="64748B"/>
                </a:solidFill>
              </a:rPr>
              <a:t>AI Product Intelligence Suite 1.04 — portfolio case study, not a commercial product</a:t>
            </a:r>
            <a:endParaRPr lang="en-US" sz="750" dirty="0"/>
          </a:p>
        </p:txBody>
      </p:sp>
      <p:sp>
        <p:nvSpPr>
          <p:cNvPr id="27" name="Text 25"/>
          <p:cNvSpPr/>
          <p:nvPr/>
        </p:nvSpPr>
        <p:spPr>
          <a:xfrm>
            <a:off x="11064240" y="6510528"/>
            <a:ext cx="502920" cy="164592"/>
          </a:xfrm>
          <a:prstGeom prst="rect">
            <a:avLst/>
          </a:prstGeom>
          <a:noFill/>
          <a:ln/>
        </p:spPr>
        <p:txBody>
          <a:bodyPr wrap="square" lIns="0" tIns="0" rIns="0" bIns="0" rtlCol="0" anchor="ctr"/>
          <a:lstStyle/>
          <a:p>
            <a:pPr algn="r" indent="0" marL="0">
              <a:buNone/>
            </a:pPr>
            <a:r>
              <a:rPr lang="en-US" sz="800" b="1" dirty="0">
                <a:solidFill>
                  <a:srgbClr val="64748B"/>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85800" y="731520"/>
            <a:ext cx="7772400" cy="457200"/>
          </a:xfrm>
          <a:prstGeom prst="rect">
            <a:avLst/>
          </a:prstGeom>
          <a:noFill/>
          <a:ln/>
        </p:spPr>
        <p:txBody>
          <a:bodyPr wrap="square" lIns="0" tIns="0" rIns="0" bIns="0" rtlCol="0" anchor="ctr"/>
          <a:lstStyle/>
          <a:p>
            <a:pPr indent="0" marL="0">
              <a:buNone/>
            </a:pPr>
            <a:r>
              <a:rPr lang="en-US" sz="2800" b="1" dirty="0">
                <a:solidFill>
                  <a:srgbClr val="FFFFFF"/>
                </a:solidFill>
              </a:rPr>
              <a:t>The story to leave with</a:t>
            </a:r>
            <a:endParaRPr lang="en-US" sz="2800" dirty="0"/>
          </a:p>
        </p:txBody>
      </p:sp>
      <p:sp>
        <p:nvSpPr>
          <p:cNvPr id="3" name="Text 1"/>
          <p:cNvSpPr/>
          <p:nvPr/>
        </p:nvSpPr>
        <p:spPr>
          <a:xfrm>
            <a:off x="713232" y="1463040"/>
            <a:ext cx="7315200" cy="960120"/>
          </a:xfrm>
          <a:prstGeom prst="rect">
            <a:avLst/>
          </a:prstGeom>
          <a:noFill/>
          <a:ln/>
        </p:spPr>
        <p:txBody>
          <a:bodyPr wrap="square" lIns="254" tIns="254" rIns="254" bIns="254" rtlCol="0" anchor="ctr">
            <a:normAutofit/>
          </a:bodyPr>
          <a:lstStyle/>
          <a:p>
            <a:pPr indent="0" marL="0">
              <a:buNone/>
            </a:pPr>
            <a:r>
              <a:rPr lang="en-US" sz="2200" b="1" dirty="0">
                <a:solidFill>
                  <a:srgbClr val="FFFFFF"/>
                </a:solidFill>
              </a:rPr>
              <a:t>I can design AI product workflows for regulated enterprise teams that are useful, reviewable and honest about their limits.</a:t>
            </a:r>
            <a:endParaRPr lang="en-US" sz="2200" dirty="0"/>
          </a:p>
        </p:txBody>
      </p:sp>
      <p:sp>
        <p:nvSpPr>
          <p:cNvPr id="4" name="Shape 2"/>
          <p:cNvSpPr/>
          <p:nvPr/>
        </p:nvSpPr>
        <p:spPr>
          <a:xfrm>
            <a:off x="731520" y="3017520"/>
            <a:ext cx="3200400" cy="1097280"/>
          </a:xfrm>
          <a:prstGeom prst="roundRect">
            <a:avLst>
              <a:gd name="adj" fmla="val 10000"/>
            </a:avLst>
          </a:prstGeom>
          <a:solidFill>
            <a:srgbClr val="12345A"/>
          </a:solidFill>
          <a:ln w="12700">
            <a:solidFill>
              <a:srgbClr val="2563EB"/>
            </a:solidFill>
            <a:prstDash val="solid"/>
          </a:ln>
        </p:spPr>
      </p:sp>
      <p:sp>
        <p:nvSpPr>
          <p:cNvPr id="5" name="Text 3"/>
          <p:cNvSpPr/>
          <p:nvPr/>
        </p:nvSpPr>
        <p:spPr>
          <a:xfrm>
            <a:off x="1005840" y="3246120"/>
            <a:ext cx="2560320" cy="182880"/>
          </a:xfrm>
          <a:prstGeom prst="rect">
            <a:avLst/>
          </a:prstGeom>
          <a:noFill/>
          <a:ln/>
        </p:spPr>
        <p:txBody>
          <a:bodyPr wrap="square" lIns="0" tIns="0" rIns="0" bIns="0" rtlCol="0" anchor="ctr"/>
          <a:lstStyle/>
          <a:p>
            <a:pPr indent="0" marL="0">
              <a:buNone/>
            </a:pPr>
            <a:r>
              <a:rPr lang="en-US" sz="1200" b="1" dirty="0">
                <a:solidFill>
                  <a:srgbClr val="FFFFFF"/>
                </a:solidFill>
              </a:rPr>
              <a:t>Next best proof</a:t>
            </a:r>
            <a:endParaRPr lang="en-US" sz="1200" dirty="0"/>
          </a:p>
        </p:txBody>
      </p:sp>
      <p:sp>
        <p:nvSpPr>
          <p:cNvPr id="6" name="Text 4"/>
          <p:cNvSpPr/>
          <p:nvPr/>
        </p:nvSpPr>
        <p:spPr>
          <a:xfrm>
            <a:off x="1005840" y="3566160"/>
            <a:ext cx="2560320" cy="310896"/>
          </a:xfrm>
          <a:prstGeom prst="rect">
            <a:avLst/>
          </a:prstGeom>
          <a:noFill/>
          <a:ln/>
        </p:spPr>
        <p:txBody>
          <a:bodyPr wrap="square" lIns="254" tIns="254" rIns="254" bIns="254" rtlCol="0" anchor="ctr"/>
          <a:lstStyle/>
          <a:p>
            <a:pPr indent="0" marL="0">
              <a:buNone/>
            </a:pPr>
            <a:r>
              <a:rPr lang="en-US" sz="1050" dirty="0">
                <a:solidFill>
                  <a:srgbClr val="D8E8FF"/>
                </a:solidFill>
              </a:rPr>
              <a:t>60–90 second walkthrough video + 3 real screenshots in README</a:t>
            </a:r>
            <a:endParaRPr lang="en-US" sz="1050" dirty="0"/>
          </a:p>
        </p:txBody>
      </p:sp>
      <p:sp>
        <p:nvSpPr>
          <p:cNvPr id="7" name="Shape 5"/>
          <p:cNvSpPr/>
          <p:nvPr/>
        </p:nvSpPr>
        <p:spPr>
          <a:xfrm>
            <a:off x="4343400" y="3017520"/>
            <a:ext cx="3200400" cy="1097280"/>
          </a:xfrm>
          <a:prstGeom prst="roundRect">
            <a:avLst>
              <a:gd name="adj" fmla="val 10000"/>
            </a:avLst>
          </a:prstGeom>
          <a:solidFill>
            <a:srgbClr val="12345A"/>
          </a:solidFill>
          <a:ln w="12700">
            <a:solidFill>
              <a:srgbClr val="10B981"/>
            </a:solidFill>
            <a:prstDash val="solid"/>
          </a:ln>
        </p:spPr>
      </p:sp>
      <p:sp>
        <p:nvSpPr>
          <p:cNvPr id="8" name="Text 6"/>
          <p:cNvSpPr/>
          <p:nvPr/>
        </p:nvSpPr>
        <p:spPr>
          <a:xfrm>
            <a:off x="4617720" y="3246120"/>
            <a:ext cx="2560320" cy="182880"/>
          </a:xfrm>
          <a:prstGeom prst="rect">
            <a:avLst/>
          </a:prstGeom>
          <a:noFill/>
          <a:ln/>
        </p:spPr>
        <p:txBody>
          <a:bodyPr wrap="square" lIns="0" tIns="0" rIns="0" bIns="0" rtlCol="0" anchor="ctr"/>
          <a:lstStyle/>
          <a:p>
            <a:pPr indent="0" marL="0">
              <a:buNone/>
            </a:pPr>
            <a:r>
              <a:rPr lang="en-US" sz="1200" b="1" dirty="0">
                <a:solidFill>
                  <a:srgbClr val="FFFFFF"/>
                </a:solidFill>
              </a:rPr>
              <a:t>Reviewer path</a:t>
            </a:r>
            <a:endParaRPr lang="en-US" sz="1200" dirty="0"/>
          </a:p>
        </p:txBody>
      </p:sp>
      <p:sp>
        <p:nvSpPr>
          <p:cNvPr id="9" name="Text 7"/>
          <p:cNvSpPr/>
          <p:nvPr/>
        </p:nvSpPr>
        <p:spPr>
          <a:xfrm>
            <a:off x="4617720" y="3566160"/>
            <a:ext cx="2560320" cy="310896"/>
          </a:xfrm>
          <a:prstGeom prst="rect">
            <a:avLst/>
          </a:prstGeom>
          <a:noFill/>
          <a:ln/>
        </p:spPr>
        <p:txBody>
          <a:bodyPr wrap="square" lIns="254" tIns="254" rIns="254" bIns="254" rtlCol="0" anchor="ctr"/>
          <a:lstStyle/>
          <a:p>
            <a:pPr indent="0" marL="0">
              <a:buNone/>
            </a:pPr>
            <a:r>
              <a:rPr lang="en-US" sz="1050" dirty="0">
                <a:solidFill>
                  <a:srgbClr val="D8E8FF"/>
                </a:solidFill>
              </a:rPr>
              <a:t>Start Here — Hero Demo → QA / Release / Audit evidence</a:t>
            </a:r>
            <a:endParaRPr lang="en-US" sz="1050" dirty="0"/>
          </a:p>
        </p:txBody>
      </p:sp>
      <p:sp>
        <p:nvSpPr>
          <p:cNvPr id="10" name="Shape 8"/>
          <p:cNvSpPr/>
          <p:nvPr/>
        </p:nvSpPr>
        <p:spPr>
          <a:xfrm>
            <a:off x="7955280" y="3017520"/>
            <a:ext cx="3200400" cy="1097280"/>
          </a:xfrm>
          <a:prstGeom prst="roundRect">
            <a:avLst>
              <a:gd name="adj" fmla="val 10000"/>
            </a:avLst>
          </a:prstGeom>
          <a:solidFill>
            <a:srgbClr val="12345A"/>
          </a:solidFill>
          <a:ln w="12700">
            <a:solidFill>
              <a:srgbClr val="F59E0B"/>
            </a:solidFill>
            <a:prstDash val="solid"/>
          </a:ln>
        </p:spPr>
      </p:sp>
      <p:sp>
        <p:nvSpPr>
          <p:cNvPr id="11" name="Text 9"/>
          <p:cNvSpPr/>
          <p:nvPr/>
        </p:nvSpPr>
        <p:spPr>
          <a:xfrm>
            <a:off x="8229600" y="3246120"/>
            <a:ext cx="2560320" cy="182880"/>
          </a:xfrm>
          <a:prstGeom prst="rect">
            <a:avLst/>
          </a:prstGeom>
          <a:noFill/>
          <a:ln/>
        </p:spPr>
        <p:txBody>
          <a:bodyPr wrap="square" lIns="0" tIns="0" rIns="0" bIns="0" rtlCol="0" anchor="ctr"/>
          <a:lstStyle/>
          <a:p>
            <a:pPr indent="0" marL="0">
              <a:buNone/>
            </a:pPr>
            <a:r>
              <a:rPr lang="en-US" sz="1200" b="1" dirty="0">
                <a:solidFill>
                  <a:srgbClr val="FFFFFF"/>
                </a:solidFill>
              </a:rPr>
              <a:t>Portfolio signal</a:t>
            </a:r>
            <a:endParaRPr lang="en-US" sz="1200" dirty="0"/>
          </a:p>
        </p:txBody>
      </p:sp>
      <p:sp>
        <p:nvSpPr>
          <p:cNvPr id="12" name="Text 10"/>
          <p:cNvSpPr/>
          <p:nvPr/>
        </p:nvSpPr>
        <p:spPr>
          <a:xfrm>
            <a:off x="8229600" y="3566160"/>
            <a:ext cx="2560320" cy="310896"/>
          </a:xfrm>
          <a:prstGeom prst="rect">
            <a:avLst/>
          </a:prstGeom>
          <a:noFill/>
          <a:ln/>
        </p:spPr>
        <p:txBody>
          <a:bodyPr wrap="square" lIns="254" tIns="254" rIns="254" bIns="254" rtlCol="0" anchor="ctr"/>
          <a:lstStyle/>
          <a:p>
            <a:pPr indent="0" marL="0">
              <a:buNone/>
            </a:pPr>
            <a:r>
              <a:rPr lang="en-US" sz="1050" dirty="0">
                <a:solidFill>
                  <a:srgbClr val="D8E8FF"/>
                </a:solidFill>
              </a:rPr>
              <a:t>Staff-level product judgment applied to enterprise AI</a:t>
            </a:r>
            <a:endParaRPr lang="en-US" sz="1050" dirty="0"/>
          </a:p>
        </p:txBody>
      </p:sp>
      <p:sp>
        <p:nvSpPr>
          <p:cNvPr id="13" name="Text 11"/>
          <p:cNvSpPr/>
          <p:nvPr/>
        </p:nvSpPr>
        <p:spPr>
          <a:xfrm>
            <a:off x="731520" y="6172200"/>
            <a:ext cx="5120640" cy="182880"/>
          </a:xfrm>
          <a:prstGeom prst="rect">
            <a:avLst/>
          </a:prstGeom>
          <a:noFill/>
          <a:ln/>
        </p:spPr>
        <p:txBody>
          <a:bodyPr wrap="square" lIns="0" tIns="0" rIns="0" bIns="0" rtlCol="0" anchor="ctr"/>
          <a:lstStyle/>
          <a:p>
            <a:pPr indent="0" marL="0">
              <a:buNone/>
            </a:pPr>
            <a:r>
              <a:rPr lang="en-US" sz="900" dirty="0">
                <a:solidFill>
                  <a:srgbClr val="D8E8FF"/>
                </a:solidFill>
              </a:rPr>
              <a:t>marco6689 · AI Product / Enterprise Product portfolio</a:t>
            </a:r>
            <a:endParaRPr lang="en-US" sz="900" dirty="0"/>
          </a:p>
        </p:txBody>
      </p:sp>
      <p:sp>
        <p:nvSpPr>
          <p:cNvPr id="14" name="Text 12"/>
          <p:cNvSpPr/>
          <p:nvPr/>
        </p:nvSpPr>
        <p:spPr>
          <a:xfrm>
            <a:off x="11064240" y="6172200"/>
            <a:ext cx="411480" cy="164592"/>
          </a:xfrm>
          <a:prstGeom prst="rect">
            <a:avLst/>
          </a:prstGeom>
          <a:noFill/>
          <a:ln/>
        </p:spPr>
        <p:txBody>
          <a:bodyPr wrap="square" lIns="0" tIns="0" rIns="0" bIns="0" rtlCol="0" anchor="ctr"/>
          <a:lstStyle/>
          <a:p>
            <a:pPr algn="r" indent="0" marL="0">
              <a:buNone/>
            </a:pPr>
            <a:r>
              <a:rPr lang="en-US" sz="800" dirty="0">
                <a:solidFill>
                  <a:srgbClr val="D8E8FF"/>
                </a:solidFill>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Portfolio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Product Intelligence Suite 1.04 — Portfolio Pitch Deck</dc:title>
  <dc:subject>AI Product Intelligence Suite portfolio pitch deck</dc:subject>
  <dc:creator>Marco Figueiredo</dc:creator>
  <cp:lastModifiedBy>Marco Figueiredo</cp:lastModifiedBy>
  <cp:revision>1</cp:revision>
  <dcterms:created xsi:type="dcterms:W3CDTF">2026-06-19T14:21:41Z</dcterms:created>
  <dcterms:modified xsi:type="dcterms:W3CDTF">2026-06-19T14:21:41Z</dcterms:modified>
</cp:coreProperties>
</file>